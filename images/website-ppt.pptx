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6" r:id="rId2"/>
    <p:sldId id="269" r:id="rId3"/>
    <p:sldId id="214253761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98" autoAdjust="0"/>
    <p:restoredTop sz="94660"/>
  </p:normalViewPr>
  <p:slideViewPr>
    <p:cSldViewPr snapToGrid="0">
      <p:cViewPr varScale="1">
        <p:scale>
          <a:sx n="25" d="100"/>
          <a:sy n="25" d="100"/>
        </p:scale>
        <p:origin x="4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B26D9-0EAF-4A09-9633-B1FA8077D875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94A5B-5259-4913-BDC0-C09A2656EE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109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1EFE9-DC79-41AB-B83B-AD2C1651D48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483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35923-CB3B-1152-10C4-93B93A8AC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C11452-6BBA-6FB4-C22A-971138124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5AA1AA-AC5F-7944-5558-B7A11845E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16BA-0865-44D3-B8C4-51C9A39A28C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EC89F9-C9A3-51BD-29EE-7D686370F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56039-0230-AD3D-DEB0-3172CF23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CFFB-B02D-499D-9E4D-9B80D9DFD8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973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2AF41-8C9F-65B4-A321-0C19AD851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C5BF30-66F3-D727-FF91-3F656A488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826277-F45A-107F-61C0-932C8926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16BA-0865-44D3-B8C4-51C9A39A28C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EEA6E8-2FB1-454B-2E37-AAD1E704A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1A3087-6A2A-7691-542B-C99D02EA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CFFB-B02D-499D-9E4D-9B80D9DFD8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07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332BF-5E76-E423-556F-4397E1949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9B7AAE-8839-BAF2-DBCC-761CEDE5B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6A78A-DE0D-5653-0352-A04FB0DAB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16BA-0865-44D3-B8C4-51C9A39A28C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C701D8-9AA0-D451-5DBC-27246A9B2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6D467F-1772-0330-65A6-F5C71F13C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CFFB-B02D-499D-9E4D-9B80D9DFD8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28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65523-A558-876D-BDF6-AD66FE32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4F3DF5-FC0D-DE49-F87A-9170A9278B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7D390F-17FD-B4EB-3380-AF44614A6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8E29A6-534F-1E72-7F52-FA21469FB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16BA-0865-44D3-B8C4-51C9A39A28C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BCBB7F-C986-F3B1-5D83-16A0EE576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A8F03F-5B8C-881C-BFB8-1FCDE83DC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CFFB-B02D-499D-9E4D-9B80D9DFD8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847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6854A9-CD18-DE6F-BC40-8EB69831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EF91AB-9498-D6D7-4DE8-E15EDFEA8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6FD0F1-8A4B-404C-E533-3AF7CA326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B62891-9551-9A47-B461-74D930004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903168-9622-ACC6-D105-36C426FE6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1DB9D2-3742-45B6-C58C-85F5A968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16BA-0865-44D3-B8C4-51C9A39A28C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763E37-CBF1-FB4D-F3F6-94EF0D34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3F6F4BC-FDA5-ABEF-E67F-237931EE7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CFFB-B02D-499D-9E4D-9B80D9DFD8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89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A745A-238B-D507-FA7F-81FBC371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0C4B3F-5039-8EF9-04DF-88030F49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16BA-0865-44D3-B8C4-51C9A39A28C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FBFBED-477F-2D25-26C8-98CAF02B2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860676-4D7D-B204-10A2-670495C37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CFFB-B02D-499D-9E4D-9B80D9DFD8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41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CD7A22-D58E-DC42-633A-5AB1D777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16BA-0865-44D3-B8C4-51C9A39A28C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2ECA49B-992B-E5B5-79DB-C84A200A1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B27D55-89FA-D1E3-3EF5-88D73166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CFFB-B02D-499D-9E4D-9B80D9DFD8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733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4278EC-2883-8A2E-8AA9-E484122B0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E7F107-03DE-F0BC-F1EC-16152F5CF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DA6049-C64E-77C1-BA97-F12FBB609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B24FD9-8737-F24E-49BE-6E8CD445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16BA-0865-44D3-B8C4-51C9A39A28C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F45C5F-AF3A-D802-3A77-6FAF1BADF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7E5087-C2E9-FD82-C874-A867CD862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CFFB-B02D-499D-9E4D-9B80D9DFD8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60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B2ED53-C1DA-186A-6C07-AFC1919F5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815B0D-4356-2775-B27C-FF722E81CB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C5A495-4629-8903-E2F2-E67B4ABBB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50F236-4713-FEDD-EF5A-9A0032818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16BA-0865-44D3-B8C4-51C9A39A28C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C4077C-E48E-4775-A62E-1D44FD158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518AFD-2145-961B-5910-0C1B30E1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CFFB-B02D-499D-9E4D-9B80D9DFD8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311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5F3029-E5C6-A0C3-4643-4F69EF71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D349CD-A68D-1F01-E49E-EBF0A5913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9451EA-352E-E2F7-C376-CB8618E5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16BA-0865-44D3-B8C4-51C9A39A28C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A7E671-BF88-57D7-611D-81F6423E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61449C-ECAD-5D3F-CDA7-93EB2BB7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CFFB-B02D-499D-9E4D-9B80D9DFD8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181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7E6E3D-5D2A-6F67-D3DA-405694676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962125-B8E4-4F36-589C-45189BAA9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A7B8B2-9463-D33F-0CB3-0F605E73E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16BA-0865-44D3-B8C4-51C9A39A28C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DFBD4F-7120-0BC2-F31F-619E67A9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25C08D-F398-FCB9-5FEA-6E64AD03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CFFB-B02D-499D-9E4D-9B80D9DFD8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342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F349DD-013D-DA82-5958-C5275C1020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B76CC2-1A78-6F1C-C06E-0845308B63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6F2924-050D-4076-8BF7-35679FDA93C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85081A1-C14E-DE49-DC69-CE6C1CC5AD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85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2B57DB-44C1-1FC7-9816-B4B5F6BC2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043BA4-FD78-1047-E340-BBF4DA5FA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1E1059-32DB-C62A-65DC-F4A1CBC35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616BA-0865-44D3-B8C4-51C9A39A28C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9E6060-162E-3C54-E0F7-411F6649D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78FD13-4D19-DE6F-86A0-F0B970C22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2CFFB-B02D-499D-9E4D-9B80D9DFD8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93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B8E4F-67EC-B5F9-CEFA-39DF1E79B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D585D71-DAA4-7175-4FD4-4E3910128938}"/>
              </a:ext>
            </a:extLst>
          </p:cNvPr>
          <p:cNvSpPr/>
          <p:nvPr/>
        </p:nvSpPr>
        <p:spPr>
          <a:xfrm>
            <a:off x="481144" y="340236"/>
            <a:ext cx="864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关键创新・通过影响力建模，解开影响力密码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0CB4DD-3D3C-84B4-2B0C-5A96BC52BA45}"/>
              </a:ext>
            </a:extLst>
          </p:cNvPr>
          <p:cNvSpPr/>
          <p:nvPr/>
        </p:nvSpPr>
        <p:spPr>
          <a:xfrm>
            <a:off x="7078507" y="685280"/>
            <a:ext cx="43200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影响力密码 </a:t>
            </a:r>
            <a:r>
              <a:rPr lang="en-US" altLang="zh-CN" sz="16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16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让影响力，从感觉变成算法</a:t>
            </a:r>
            <a:endParaRPr lang="zh-CN" altLang="en-US" sz="1400" dirty="0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F830D9-54F1-1966-9654-EB42355545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9814" y="1116004"/>
            <a:ext cx="6063343" cy="502670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B3E4DD0-BD26-0002-267E-05A470B5E3FE}"/>
              </a:ext>
            </a:extLst>
          </p:cNvPr>
          <p:cNvSpPr/>
          <p:nvPr/>
        </p:nvSpPr>
        <p:spPr>
          <a:xfrm>
            <a:off x="7083457" y="1204932"/>
            <a:ext cx="4680000" cy="15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rgbClr val="B83B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为什么给影响力建模</a:t>
            </a:r>
          </a:p>
          <a:p>
            <a:pPr marL="171450" indent="-171450">
              <a:lnSpc>
                <a:spcPct val="120000"/>
              </a:lnSpc>
              <a:spcBef>
                <a:spcPts val="600"/>
              </a:spcBef>
              <a:buClr>
                <a:srgbClr val="E11D48"/>
              </a:buClr>
              <a:buFont typeface="Wingdings" panose="05000000000000000000" pitchFamily="2" charset="2"/>
              <a:buChar char="u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认知困局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流量经验化、碎片化，成功靠偶然，失败不知因，关键变量易被忽略。</a:t>
            </a:r>
          </a:p>
          <a:p>
            <a:pPr marL="171450" indent="-171450">
              <a:lnSpc>
                <a:spcPct val="120000"/>
              </a:lnSpc>
              <a:spcBef>
                <a:spcPts val="600"/>
              </a:spcBef>
              <a:buClr>
                <a:srgbClr val="E11D48"/>
              </a:buClr>
              <a:buFont typeface="Wingdings" panose="05000000000000000000" pitchFamily="2" charset="2"/>
              <a:buChar char="u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系统解构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建立系统性影响力模型，拆解流量底层来源，精准捕捉每一个细微变量。</a:t>
            </a:r>
          </a:p>
          <a:p>
            <a:pPr marL="171450" indent="-171450">
              <a:lnSpc>
                <a:spcPct val="120000"/>
              </a:lnSpc>
              <a:spcBef>
                <a:spcPts val="600"/>
              </a:spcBef>
              <a:buClr>
                <a:srgbClr val="E11D48"/>
              </a:buClr>
              <a:buFont typeface="Wingdings" panose="05000000000000000000" pitchFamily="2" charset="2"/>
              <a:buChar char="u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范式跃迁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让爆款从“玄学”变为可复制的工程，批量产出高传播内容，持续放大影响力。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5CB3B9-0FC6-BC4A-E5E8-EA817ABD8B74}"/>
              </a:ext>
            </a:extLst>
          </p:cNvPr>
          <p:cNvSpPr/>
          <p:nvPr/>
        </p:nvSpPr>
        <p:spPr>
          <a:xfrm>
            <a:off x="7083457" y="2845035"/>
            <a:ext cx="453452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rgbClr val="00B0F0"/>
              </a:buClr>
              <a:buFont typeface="+mj-lt"/>
              <a:buAutoNum type="arabicPeriod" startAt="2"/>
            </a:pPr>
            <a:r>
              <a:rPr lang="zh-CN" altLang="en-US" sz="1400" b="1" dirty="0">
                <a:solidFill>
                  <a:srgbClr val="B83B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我们做了什么</a:t>
            </a:r>
            <a:r>
              <a:rPr lang="en-US" altLang="zh-CN" sz="1400" b="1" dirty="0">
                <a:solidFill>
                  <a:srgbClr val="B83B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400" b="1" dirty="0">
                <a:solidFill>
                  <a:srgbClr val="B83B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影响力模块化、参数化、标准化</a:t>
            </a:r>
            <a:endParaRPr lang="zh-CN" altLang="en-US" sz="1400" dirty="0">
              <a:solidFill>
                <a:srgbClr val="B83B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69C2EC4-A52E-3B79-B538-70FC5DBB0035}"/>
              </a:ext>
            </a:extLst>
          </p:cNvPr>
          <p:cNvSpPr/>
          <p:nvPr/>
        </p:nvSpPr>
        <p:spPr>
          <a:xfrm>
            <a:off x="7161122" y="3229128"/>
            <a:ext cx="1440000" cy="540000"/>
          </a:xfrm>
          <a:prstGeom prst="roundRect">
            <a:avLst>
              <a:gd name="adj" fmla="val 6579"/>
            </a:avLst>
          </a:prstGeom>
          <a:solidFill>
            <a:srgbClr val="FEF0F3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Bef>
                <a:spcPts val="600"/>
              </a:spcBef>
            </a:pPr>
            <a:r>
              <a:rPr lang="en-US" altLang="zh-CN" sz="12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深度研发</a:t>
            </a:r>
            <a:endParaRPr lang="en-US" altLang="zh-CN" sz="1200" b="1" dirty="0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1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多学科融合 </a:t>
            </a:r>
            <a:r>
              <a:rPr lang="en-US" altLang="zh-CN" sz="11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AI</a:t>
            </a:r>
            <a:r>
              <a:rPr lang="zh-CN" altLang="en-US" sz="11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865CE0C-9E4A-8E6F-D649-A2D24844448A}"/>
              </a:ext>
            </a:extLst>
          </p:cNvPr>
          <p:cNvSpPr/>
          <p:nvPr/>
        </p:nvSpPr>
        <p:spPr>
          <a:xfrm>
            <a:off x="8702935" y="3229128"/>
            <a:ext cx="1440000" cy="540000"/>
          </a:xfrm>
          <a:prstGeom prst="roundRect">
            <a:avLst>
              <a:gd name="adj" fmla="val 6579"/>
            </a:avLst>
          </a:prstGeom>
          <a:solidFill>
            <a:srgbClr val="FEF0F3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Bef>
                <a:spcPts val="600"/>
              </a:spcBef>
            </a:pPr>
            <a:r>
              <a:rPr lang="en-US" altLang="zh-CN" sz="12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2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大模块一级架构</a:t>
            </a:r>
            <a:endParaRPr lang="en-US" altLang="zh-CN" sz="1200" b="1" dirty="0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1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完整覆盖影响力维度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4DE488C-5A2D-BD5F-1784-7DB2DF63010F}"/>
              </a:ext>
            </a:extLst>
          </p:cNvPr>
          <p:cNvSpPr/>
          <p:nvPr/>
        </p:nvSpPr>
        <p:spPr>
          <a:xfrm>
            <a:off x="10294228" y="3229128"/>
            <a:ext cx="1440000" cy="540000"/>
          </a:xfrm>
          <a:prstGeom prst="roundRect">
            <a:avLst>
              <a:gd name="adj" fmla="val 6579"/>
            </a:avLst>
          </a:prstGeom>
          <a:solidFill>
            <a:srgbClr val="FEF0F3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Bef>
                <a:spcPts val="600"/>
              </a:spcBef>
            </a:pPr>
            <a:r>
              <a:rPr lang="zh-CN" altLang="en-US" sz="12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数百个关键要素</a:t>
            </a:r>
            <a:endParaRPr lang="en-US" altLang="zh-CN" sz="1200" b="1" dirty="0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1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精细拆解</a:t>
            </a:r>
            <a:r>
              <a:rPr lang="en-US" altLang="zh-CN" sz="11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1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变量体系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BDBF2AF-A651-5742-1889-873001B6A0C0}"/>
              </a:ext>
            </a:extLst>
          </p:cNvPr>
          <p:cNvSpPr/>
          <p:nvPr/>
        </p:nvSpPr>
        <p:spPr>
          <a:xfrm>
            <a:off x="7161122" y="3844667"/>
            <a:ext cx="1440000" cy="540000"/>
          </a:xfrm>
          <a:prstGeom prst="roundRect">
            <a:avLst>
              <a:gd name="adj" fmla="val 6579"/>
            </a:avLst>
          </a:prstGeom>
          <a:solidFill>
            <a:srgbClr val="FEF0F3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Bef>
                <a:spcPts val="600"/>
              </a:spcBef>
            </a:pPr>
            <a:r>
              <a:rPr lang="zh-CN" altLang="en-US" sz="12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近千万字知识资产</a:t>
            </a:r>
            <a:endParaRPr lang="en-US" altLang="zh-CN" sz="1200" b="1" dirty="0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1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垂直领域深度沉淀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C43DAE8-861B-7DDE-81DA-401B0D46F3AB}"/>
              </a:ext>
            </a:extLst>
          </p:cNvPr>
          <p:cNvSpPr/>
          <p:nvPr/>
        </p:nvSpPr>
        <p:spPr>
          <a:xfrm>
            <a:off x="8702935" y="3844667"/>
            <a:ext cx="1440000" cy="540000"/>
          </a:xfrm>
          <a:prstGeom prst="roundRect">
            <a:avLst>
              <a:gd name="adj" fmla="val 6579"/>
            </a:avLst>
          </a:prstGeom>
          <a:solidFill>
            <a:srgbClr val="FEF0F3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Bef>
                <a:spcPts val="600"/>
              </a:spcBef>
            </a:pPr>
            <a:r>
              <a:rPr lang="zh-CN" altLang="en-US" sz="12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数百位顶流博主分析</a:t>
            </a:r>
            <a:endParaRPr lang="en-US" altLang="zh-CN" sz="1200" b="1" dirty="0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1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爆款特征提取</a:t>
            </a:r>
            <a:r>
              <a:rPr lang="en-US" altLang="zh-CN" sz="11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1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A7E9A33-8F6F-4D4C-3C00-DC2AE1E79140}"/>
              </a:ext>
            </a:extLst>
          </p:cNvPr>
          <p:cNvSpPr/>
          <p:nvPr/>
        </p:nvSpPr>
        <p:spPr>
          <a:xfrm>
            <a:off x="10294228" y="3844667"/>
            <a:ext cx="1440000" cy="540000"/>
          </a:xfrm>
          <a:prstGeom prst="roundRect">
            <a:avLst>
              <a:gd name="adj" fmla="val 6579"/>
            </a:avLst>
          </a:prstGeom>
          <a:solidFill>
            <a:srgbClr val="FEF0F3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Bef>
                <a:spcPts val="600"/>
              </a:spcBef>
            </a:pPr>
            <a:r>
              <a:rPr lang="en-US" altLang="zh-CN" sz="12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AI+</a:t>
            </a:r>
            <a:r>
              <a:rPr lang="zh-CN" altLang="en-US" sz="12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多学科深度协同</a:t>
            </a:r>
            <a:endParaRPr lang="en-US" altLang="zh-CN" sz="1200" b="1" dirty="0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1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历时一年模型锤炼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84BC308-5A98-3751-ED33-3766C4E6FFD2}"/>
              </a:ext>
            </a:extLst>
          </p:cNvPr>
          <p:cNvSpPr/>
          <p:nvPr/>
        </p:nvSpPr>
        <p:spPr>
          <a:xfrm>
            <a:off x="7083457" y="4340473"/>
            <a:ext cx="43200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rgbClr val="00B0F0"/>
              </a:buClr>
              <a:buFont typeface="+mj-lt"/>
              <a:buAutoNum type="arabicPeriod" startAt="3"/>
            </a:pPr>
            <a:r>
              <a:rPr lang="zh-CN" altLang="en-US" sz="1400" b="1" dirty="0">
                <a:solidFill>
                  <a:srgbClr val="B83B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核心价值</a:t>
            </a:r>
            <a:endParaRPr lang="zh-CN" altLang="en-US" sz="1400" dirty="0">
              <a:solidFill>
                <a:srgbClr val="B83B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1020690-93A8-EA2A-4486-21C08AB1298B}"/>
              </a:ext>
            </a:extLst>
          </p:cNvPr>
          <p:cNvSpPr/>
          <p:nvPr/>
        </p:nvSpPr>
        <p:spPr>
          <a:xfrm>
            <a:off x="7161122" y="4988986"/>
            <a:ext cx="4580028" cy="1728000"/>
          </a:xfrm>
          <a:prstGeom prst="roundRect">
            <a:avLst>
              <a:gd name="adj" fmla="val 6579"/>
            </a:avLst>
          </a:prstGeom>
          <a:noFill/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7358127-9CC4-8A4C-C617-E84BB17B3EF7}"/>
              </a:ext>
            </a:extLst>
          </p:cNvPr>
          <p:cNvSpPr/>
          <p:nvPr/>
        </p:nvSpPr>
        <p:spPr>
          <a:xfrm>
            <a:off x="7083457" y="4666756"/>
            <a:ext cx="3989807" cy="288000"/>
          </a:xfrm>
          <a:prstGeom prst="roundRect">
            <a:avLst>
              <a:gd name="adj" fmla="val 657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这套模型让爆款从玄学变成可计算、可复制的数字密码。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16FE93A-D999-7762-D01A-140DBD1BBAB6}"/>
              </a:ext>
            </a:extLst>
          </p:cNvPr>
          <p:cNvGrpSpPr/>
          <p:nvPr/>
        </p:nvGrpSpPr>
        <p:grpSpPr>
          <a:xfrm>
            <a:off x="7493548" y="5067899"/>
            <a:ext cx="3915177" cy="1550293"/>
            <a:chOff x="7383626" y="4983571"/>
            <a:chExt cx="3915177" cy="1550293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7B9C6058-109A-0AF7-EF1C-5F6E2DC22050}"/>
                </a:ext>
              </a:extLst>
            </p:cNvPr>
            <p:cNvSpPr/>
            <p:nvPr/>
          </p:nvSpPr>
          <p:spPr>
            <a:xfrm>
              <a:off x="8419544" y="5895667"/>
              <a:ext cx="1620000" cy="252000"/>
            </a:xfrm>
            <a:prstGeom prst="roundRect">
              <a:avLst>
                <a:gd name="adj" fmla="val 6579"/>
              </a:avLst>
            </a:prstGeom>
            <a:noFill/>
            <a:ln>
              <a:solidFill>
                <a:srgbClr val="F8C5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rgbClr val="B83B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指标效果全面提升</a:t>
              </a: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CC325B40-E596-675E-E0A8-6F1A13717CCE}"/>
                </a:ext>
              </a:extLst>
            </p:cNvPr>
            <p:cNvSpPr/>
            <p:nvPr/>
          </p:nvSpPr>
          <p:spPr>
            <a:xfrm>
              <a:off x="7383626" y="6281864"/>
              <a:ext cx="3915177" cy="252000"/>
            </a:xfrm>
            <a:prstGeom prst="roundRect">
              <a:avLst>
                <a:gd name="adj" fmla="val 6579"/>
              </a:avLst>
            </a:prstGeom>
            <a:noFill/>
            <a:ln>
              <a:solidFill>
                <a:srgbClr val="F8C5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rgbClr val="B83B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让普通人也能像高手一样 → 影响力可复制，增长可预见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24C80178-F714-D20B-FAEB-1CA3131F31F0}"/>
                </a:ext>
              </a:extLst>
            </p:cNvPr>
            <p:cNvSpPr/>
            <p:nvPr/>
          </p:nvSpPr>
          <p:spPr>
            <a:xfrm>
              <a:off x="7383626" y="4983571"/>
              <a:ext cx="1620000" cy="252000"/>
            </a:xfrm>
            <a:prstGeom prst="roundRect">
              <a:avLst>
                <a:gd name="adj" fmla="val 6579"/>
              </a:avLst>
            </a:prstGeom>
            <a:noFill/>
            <a:ln>
              <a:solidFill>
                <a:srgbClr val="F8C5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rgbClr val="B83B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影响力元智能体</a:t>
              </a: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10118A17-E353-6609-784A-757464ADA35B}"/>
                </a:ext>
              </a:extLst>
            </p:cNvPr>
            <p:cNvSpPr/>
            <p:nvPr/>
          </p:nvSpPr>
          <p:spPr>
            <a:xfrm>
              <a:off x="9455462" y="4983571"/>
              <a:ext cx="1620000" cy="252000"/>
            </a:xfrm>
            <a:prstGeom prst="roundRect">
              <a:avLst>
                <a:gd name="adj" fmla="val 6579"/>
              </a:avLst>
            </a:prstGeom>
            <a:noFill/>
            <a:ln>
              <a:solidFill>
                <a:srgbClr val="F8C5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rgbClr val="B83B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适</a:t>
              </a:r>
              <a:r>
                <a:rPr lang="zh-CN" altLang="en-US" sz="1050" b="1">
                  <a:solidFill>
                    <a:srgbClr val="B83B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配场景</a:t>
              </a:r>
              <a:r>
                <a:rPr lang="en-US" altLang="zh-CN" sz="1050" b="1">
                  <a:solidFill>
                    <a:srgbClr val="B83B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050" b="1">
                  <a:solidFill>
                    <a:srgbClr val="B83B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赛道</a:t>
              </a:r>
              <a:r>
                <a:rPr lang="en-US" altLang="zh-CN" sz="1050" b="1" dirty="0">
                  <a:solidFill>
                    <a:srgbClr val="B83B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050" b="1" dirty="0">
                  <a:solidFill>
                    <a:srgbClr val="B83B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人设</a:t>
              </a: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BED60EC2-241B-D221-819A-33E0CE5CBBE4}"/>
                </a:ext>
              </a:extLst>
            </p:cNvPr>
            <p:cNvSpPr/>
            <p:nvPr/>
          </p:nvSpPr>
          <p:spPr>
            <a:xfrm>
              <a:off x="7383626" y="5439619"/>
              <a:ext cx="1620000" cy="252000"/>
            </a:xfrm>
            <a:prstGeom prst="roundRect">
              <a:avLst>
                <a:gd name="adj" fmla="val 6579"/>
              </a:avLst>
            </a:prstGeom>
            <a:noFill/>
            <a:ln>
              <a:solidFill>
                <a:srgbClr val="F8C5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rgbClr val="B83B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专属子智能体群</a:t>
              </a: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0F58C437-4355-03ED-8D30-F9B63B19AA57}"/>
                </a:ext>
              </a:extLst>
            </p:cNvPr>
            <p:cNvSpPr/>
            <p:nvPr/>
          </p:nvSpPr>
          <p:spPr>
            <a:xfrm>
              <a:off x="9455462" y="5439619"/>
              <a:ext cx="1620000" cy="252000"/>
            </a:xfrm>
            <a:prstGeom prst="roundRect">
              <a:avLst>
                <a:gd name="adj" fmla="val 6579"/>
              </a:avLst>
            </a:prstGeom>
            <a:noFill/>
            <a:ln>
              <a:solidFill>
                <a:srgbClr val="F8C5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rgbClr val="B83B2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持续产出高传播内容</a:t>
              </a:r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EF713C15-2C0C-3BD9-01ED-751FE02A6B9E}"/>
                </a:ext>
              </a:extLst>
            </p:cNvPr>
            <p:cNvCxnSpPr>
              <a:stCxn id="17" idx="3"/>
              <a:endCxn id="21" idx="1"/>
            </p:cNvCxnSpPr>
            <p:nvPr/>
          </p:nvCxnSpPr>
          <p:spPr>
            <a:xfrm>
              <a:off x="9003626" y="5109571"/>
              <a:ext cx="451836" cy="0"/>
            </a:xfrm>
            <a:prstGeom prst="straightConnector1">
              <a:avLst/>
            </a:prstGeom>
            <a:noFill/>
            <a:ln>
              <a:solidFill>
                <a:srgbClr val="F8C5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" name="连接符: 肘形 26">
              <a:extLst>
                <a:ext uri="{FF2B5EF4-FFF2-40B4-BE49-F238E27FC236}">
                  <a16:creationId xmlns:a16="http://schemas.microsoft.com/office/drawing/2014/main" id="{D668BB39-058D-EED0-D09C-A81634B6B3CC}"/>
                </a:ext>
              </a:extLst>
            </p:cNvPr>
            <p:cNvCxnSpPr>
              <a:stCxn id="21" idx="3"/>
              <a:endCxn id="19" idx="0"/>
            </p:cNvCxnSpPr>
            <p:nvPr/>
          </p:nvCxnSpPr>
          <p:spPr>
            <a:xfrm flipH="1">
              <a:off x="8193626" y="5109571"/>
              <a:ext cx="2881836" cy="330048"/>
            </a:xfrm>
            <a:prstGeom prst="bentConnector4">
              <a:avLst>
                <a:gd name="adj1" fmla="val -7932"/>
                <a:gd name="adj2" fmla="val 69088"/>
              </a:avLst>
            </a:prstGeom>
            <a:noFill/>
            <a:ln>
              <a:solidFill>
                <a:srgbClr val="F8C5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1042E814-BA2E-E6AC-88BC-AA47CDCA0531}"/>
                </a:ext>
              </a:extLst>
            </p:cNvPr>
            <p:cNvCxnSpPr>
              <a:stCxn id="19" idx="3"/>
              <a:endCxn id="22" idx="1"/>
            </p:cNvCxnSpPr>
            <p:nvPr/>
          </p:nvCxnSpPr>
          <p:spPr>
            <a:xfrm>
              <a:off x="9003626" y="5565619"/>
              <a:ext cx="451836" cy="0"/>
            </a:xfrm>
            <a:prstGeom prst="straightConnector1">
              <a:avLst/>
            </a:prstGeom>
            <a:noFill/>
            <a:ln>
              <a:solidFill>
                <a:srgbClr val="F8C5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连接符: 肘形 34">
              <a:extLst>
                <a:ext uri="{FF2B5EF4-FFF2-40B4-BE49-F238E27FC236}">
                  <a16:creationId xmlns:a16="http://schemas.microsoft.com/office/drawing/2014/main" id="{B4886AB8-C529-361C-76D5-0A4B54622573}"/>
                </a:ext>
              </a:extLst>
            </p:cNvPr>
            <p:cNvCxnSpPr>
              <a:stCxn id="22" idx="3"/>
              <a:endCxn id="18" idx="0"/>
            </p:cNvCxnSpPr>
            <p:nvPr/>
          </p:nvCxnSpPr>
          <p:spPr>
            <a:xfrm flipH="1">
              <a:off x="9229544" y="5565619"/>
              <a:ext cx="1845918" cy="330048"/>
            </a:xfrm>
            <a:prstGeom prst="bentConnector4">
              <a:avLst>
                <a:gd name="adj1" fmla="val -12384"/>
                <a:gd name="adj2" fmla="val 69088"/>
              </a:avLst>
            </a:prstGeom>
            <a:noFill/>
            <a:ln>
              <a:solidFill>
                <a:srgbClr val="F8C5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9FC3FD2-C30B-E310-AFB5-BB24CBDA6E7C}"/>
              </a:ext>
            </a:extLst>
          </p:cNvPr>
          <p:cNvGrpSpPr/>
          <p:nvPr/>
        </p:nvGrpSpPr>
        <p:grpSpPr>
          <a:xfrm>
            <a:off x="8658241" y="6026143"/>
            <a:ext cx="144000" cy="144000"/>
            <a:chOff x="3619500" y="3101975"/>
            <a:chExt cx="582613" cy="487363"/>
          </a:xfrm>
          <a:solidFill>
            <a:srgbClr val="E52A52"/>
          </a:solidFill>
        </p:grpSpPr>
        <p:sp>
          <p:nvSpPr>
            <p:cNvPr id="40" name="Rectangle 267">
              <a:extLst>
                <a:ext uri="{FF2B5EF4-FFF2-40B4-BE49-F238E27FC236}">
                  <a16:creationId xmlns:a16="http://schemas.microsoft.com/office/drawing/2014/main" id="{DF17A16A-B5CB-C9F2-E31C-A6F432F12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9500" y="3270250"/>
              <a:ext cx="112713" cy="31908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Rectangle 268">
              <a:extLst>
                <a:ext uri="{FF2B5EF4-FFF2-40B4-BE49-F238E27FC236}">
                  <a16:creationId xmlns:a16="http://schemas.microsoft.com/office/drawing/2014/main" id="{042B9559-881D-3E56-D8B9-E8E3662E9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250" y="3360738"/>
              <a:ext cx="112713" cy="2286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Rectangle 269">
              <a:extLst>
                <a:ext uri="{FF2B5EF4-FFF2-40B4-BE49-F238E27FC236}">
                  <a16:creationId xmlns:a16="http://schemas.microsoft.com/office/drawing/2014/main" id="{EF74744D-45AB-76FD-3657-A4EFD5413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5413" y="3217863"/>
              <a:ext cx="109538" cy="3714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Rectangle 270">
              <a:extLst>
                <a:ext uri="{FF2B5EF4-FFF2-40B4-BE49-F238E27FC236}">
                  <a16:creationId xmlns:a16="http://schemas.microsoft.com/office/drawing/2014/main" id="{FE58A04A-49C2-0913-586A-F3B36CD79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9400" y="3101975"/>
              <a:ext cx="112713" cy="48736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0317841-CFBB-EFCE-9B90-8FE875037AD3}"/>
              </a:ext>
            </a:extLst>
          </p:cNvPr>
          <p:cNvGrpSpPr/>
          <p:nvPr/>
        </p:nvGrpSpPr>
        <p:grpSpPr>
          <a:xfrm>
            <a:off x="7690585" y="5125261"/>
            <a:ext cx="144000" cy="144000"/>
            <a:chOff x="8081962" y="1784758"/>
            <a:chExt cx="503237" cy="503238"/>
          </a:xfrm>
          <a:solidFill>
            <a:srgbClr val="219980"/>
          </a:solidFill>
        </p:grpSpPr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C59C6142-EF8F-2C48-8089-89AE68AF07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81962" y="1829208"/>
              <a:ext cx="454025" cy="458788"/>
            </a:xfrm>
            <a:custGeom>
              <a:avLst/>
              <a:gdLst>
                <a:gd name="T0" fmla="*/ 60 w 121"/>
                <a:gd name="T1" fmla="*/ 122 h 122"/>
                <a:gd name="T2" fmla="*/ 121 w 121"/>
                <a:gd name="T3" fmla="*/ 61 h 122"/>
                <a:gd name="T4" fmla="*/ 114 w 121"/>
                <a:gd name="T5" fmla="*/ 33 h 122"/>
                <a:gd name="T6" fmla="*/ 112 w 121"/>
                <a:gd name="T7" fmla="*/ 33 h 122"/>
                <a:gd name="T8" fmla="*/ 112 w 121"/>
                <a:gd name="T9" fmla="*/ 33 h 122"/>
                <a:gd name="T10" fmla="*/ 104 w 121"/>
                <a:gd name="T11" fmla="*/ 32 h 122"/>
                <a:gd name="T12" fmla="*/ 98 w 121"/>
                <a:gd name="T13" fmla="*/ 38 h 122"/>
                <a:gd name="T14" fmla="*/ 105 w 121"/>
                <a:gd name="T15" fmla="*/ 61 h 122"/>
                <a:gd name="T16" fmla="*/ 60 w 121"/>
                <a:gd name="T17" fmla="*/ 106 h 122"/>
                <a:gd name="T18" fmla="*/ 16 w 121"/>
                <a:gd name="T19" fmla="*/ 61 h 122"/>
                <a:gd name="T20" fmla="*/ 60 w 121"/>
                <a:gd name="T21" fmla="*/ 16 h 122"/>
                <a:gd name="T22" fmla="*/ 84 w 121"/>
                <a:gd name="T23" fmla="*/ 23 h 122"/>
                <a:gd name="T24" fmla="*/ 89 w 121"/>
                <a:gd name="T25" fmla="*/ 18 h 122"/>
                <a:gd name="T26" fmla="*/ 88 w 121"/>
                <a:gd name="T27" fmla="*/ 9 h 122"/>
                <a:gd name="T28" fmla="*/ 88 w 121"/>
                <a:gd name="T29" fmla="*/ 7 h 122"/>
                <a:gd name="T30" fmla="*/ 60 w 121"/>
                <a:gd name="T31" fmla="*/ 0 h 122"/>
                <a:gd name="T32" fmla="*/ 0 w 121"/>
                <a:gd name="T33" fmla="*/ 61 h 122"/>
                <a:gd name="T34" fmla="*/ 60 w 121"/>
                <a:gd name="T35" fmla="*/ 122 h 122"/>
                <a:gd name="T36" fmla="*/ 60 w 121"/>
                <a:gd name="T37" fmla="*/ 122 h 122"/>
                <a:gd name="T38" fmla="*/ 60 w 121"/>
                <a:gd name="T39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1" h="122">
                  <a:moveTo>
                    <a:pt x="60" y="122"/>
                  </a:moveTo>
                  <a:cubicBezTo>
                    <a:pt x="94" y="122"/>
                    <a:pt x="121" y="95"/>
                    <a:pt x="121" y="61"/>
                  </a:cubicBezTo>
                  <a:cubicBezTo>
                    <a:pt x="121" y="51"/>
                    <a:pt x="119" y="41"/>
                    <a:pt x="114" y="33"/>
                  </a:cubicBezTo>
                  <a:cubicBezTo>
                    <a:pt x="114" y="33"/>
                    <a:pt x="113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103" y="44"/>
                    <a:pt x="105" y="52"/>
                    <a:pt x="105" y="61"/>
                  </a:cubicBezTo>
                  <a:cubicBezTo>
                    <a:pt x="105" y="86"/>
                    <a:pt x="85" y="106"/>
                    <a:pt x="60" y="106"/>
                  </a:cubicBezTo>
                  <a:cubicBezTo>
                    <a:pt x="36" y="106"/>
                    <a:pt x="16" y="86"/>
                    <a:pt x="16" y="61"/>
                  </a:cubicBezTo>
                  <a:cubicBezTo>
                    <a:pt x="16" y="36"/>
                    <a:pt x="36" y="16"/>
                    <a:pt x="60" y="16"/>
                  </a:cubicBezTo>
                  <a:cubicBezTo>
                    <a:pt x="69" y="16"/>
                    <a:pt x="77" y="19"/>
                    <a:pt x="84" y="23"/>
                  </a:cubicBezTo>
                  <a:cubicBezTo>
                    <a:pt x="89" y="18"/>
                    <a:pt x="89" y="18"/>
                    <a:pt x="89" y="1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8"/>
                    <a:pt x="88" y="7"/>
                  </a:cubicBezTo>
                  <a:cubicBezTo>
                    <a:pt x="80" y="3"/>
                    <a:pt x="71" y="0"/>
                    <a:pt x="60" y="0"/>
                  </a:cubicBezTo>
                  <a:cubicBezTo>
                    <a:pt x="27" y="0"/>
                    <a:pt x="0" y="28"/>
                    <a:pt x="0" y="61"/>
                  </a:cubicBezTo>
                  <a:cubicBezTo>
                    <a:pt x="0" y="95"/>
                    <a:pt x="27" y="122"/>
                    <a:pt x="60" y="122"/>
                  </a:cubicBezTo>
                  <a:close/>
                  <a:moveTo>
                    <a:pt x="60" y="122"/>
                  </a:moveTo>
                  <a:cubicBezTo>
                    <a:pt x="60" y="122"/>
                    <a:pt x="60" y="122"/>
                    <a:pt x="60" y="12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31071B6F-A07C-E8FD-07AF-14F594EA07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97850" y="1946683"/>
              <a:ext cx="222250" cy="225425"/>
            </a:xfrm>
            <a:custGeom>
              <a:avLst/>
              <a:gdLst>
                <a:gd name="T0" fmla="*/ 29 w 59"/>
                <a:gd name="T1" fmla="*/ 14 h 60"/>
                <a:gd name="T2" fmla="*/ 31 w 59"/>
                <a:gd name="T3" fmla="*/ 14 h 60"/>
                <a:gd name="T4" fmla="*/ 42 w 59"/>
                <a:gd name="T5" fmla="*/ 3 h 60"/>
                <a:gd name="T6" fmla="*/ 42 w 59"/>
                <a:gd name="T7" fmla="*/ 3 h 60"/>
                <a:gd name="T8" fmla="*/ 29 w 59"/>
                <a:gd name="T9" fmla="*/ 0 h 60"/>
                <a:gd name="T10" fmla="*/ 0 w 59"/>
                <a:gd name="T11" fmla="*/ 30 h 60"/>
                <a:gd name="T12" fmla="*/ 29 w 59"/>
                <a:gd name="T13" fmla="*/ 60 h 60"/>
                <a:gd name="T14" fmla="*/ 59 w 59"/>
                <a:gd name="T15" fmla="*/ 30 h 60"/>
                <a:gd name="T16" fmla="*/ 57 w 59"/>
                <a:gd name="T17" fmla="*/ 17 h 60"/>
                <a:gd name="T18" fmla="*/ 56 w 59"/>
                <a:gd name="T19" fmla="*/ 18 h 60"/>
                <a:gd name="T20" fmla="*/ 45 w 59"/>
                <a:gd name="T21" fmla="*/ 29 h 60"/>
                <a:gd name="T22" fmla="*/ 45 w 59"/>
                <a:gd name="T23" fmla="*/ 30 h 60"/>
                <a:gd name="T24" fmla="*/ 29 w 59"/>
                <a:gd name="T25" fmla="*/ 46 h 60"/>
                <a:gd name="T26" fmla="*/ 14 w 59"/>
                <a:gd name="T27" fmla="*/ 30 h 60"/>
                <a:gd name="T28" fmla="*/ 29 w 59"/>
                <a:gd name="T29" fmla="*/ 14 h 60"/>
                <a:gd name="T30" fmla="*/ 29 w 59"/>
                <a:gd name="T31" fmla="*/ 14 h 60"/>
                <a:gd name="T32" fmla="*/ 29 w 59"/>
                <a:gd name="T33" fmla="*/ 1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9" h="60">
                  <a:moveTo>
                    <a:pt x="29" y="14"/>
                  </a:moveTo>
                  <a:cubicBezTo>
                    <a:pt x="30" y="14"/>
                    <a:pt x="30" y="14"/>
                    <a:pt x="31" y="14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38" y="1"/>
                    <a:pt x="34" y="0"/>
                    <a:pt x="29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29" y="60"/>
                  </a:cubicBezTo>
                  <a:cubicBezTo>
                    <a:pt x="46" y="60"/>
                    <a:pt x="59" y="47"/>
                    <a:pt x="59" y="30"/>
                  </a:cubicBezTo>
                  <a:cubicBezTo>
                    <a:pt x="59" y="26"/>
                    <a:pt x="58" y="21"/>
                    <a:pt x="57" y="17"/>
                  </a:cubicBezTo>
                  <a:cubicBezTo>
                    <a:pt x="56" y="18"/>
                    <a:pt x="56" y="18"/>
                    <a:pt x="56" y="18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5" y="30"/>
                    <a:pt x="45" y="30"/>
                  </a:cubicBezTo>
                  <a:cubicBezTo>
                    <a:pt x="45" y="39"/>
                    <a:pt x="38" y="46"/>
                    <a:pt x="29" y="46"/>
                  </a:cubicBezTo>
                  <a:cubicBezTo>
                    <a:pt x="21" y="46"/>
                    <a:pt x="14" y="39"/>
                    <a:pt x="14" y="30"/>
                  </a:cubicBezTo>
                  <a:cubicBezTo>
                    <a:pt x="14" y="21"/>
                    <a:pt x="21" y="14"/>
                    <a:pt x="29" y="14"/>
                  </a:cubicBezTo>
                  <a:close/>
                  <a:moveTo>
                    <a:pt x="29" y="14"/>
                  </a:moveTo>
                  <a:cubicBezTo>
                    <a:pt x="29" y="14"/>
                    <a:pt x="29" y="14"/>
                    <a:pt x="29" y="1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B96599BA-7DDF-C83A-0026-1F797CD822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29612" y="1784758"/>
              <a:ext cx="255587" cy="252413"/>
            </a:xfrm>
            <a:custGeom>
              <a:avLst/>
              <a:gdLst>
                <a:gd name="T0" fmla="*/ 57 w 68"/>
                <a:gd name="T1" fmla="*/ 18 h 67"/>
                <a:gd name="T2" fmla="*/ 60 w 68"/>
                <a:gd name="T3" fmla="*/ 15 h 67"/>
                <a:gd name="T4" fmla="*/ 60 w 68"/>
                <a:gd name="T5" fmla="*/ 9 h 67"/>
                <a:gd name="T6" fmla="*/ 58 w 68"/>
                <a:gd name="T7" fmla="*/ 7 h 67"/>
                <a:gd name="T8" fmla="*/ 55 w 68"/>
                <a:gd name="T9" fmla="*/ 6 h 67"/>
                <a:gd name="T10" fmla="*/ 53 w 68"/>
                <a:gd name="T11" fmla="*/ 7 h 67"/>
                <a:gd name="T12" fmla="*/ 49 w 68"/>
                <a:gd name="T13" fmla="*/ 11 h 67"/>
                <a:gd name="T14" fmla="*/ 48 w 68"/>
                <a:gd name="T15" fmla="*/ 1 h 67"/>
                <a:gd name="T16" fmla="*/ 47 w 68"/>
                <a:gd name="T17" fmla="*/ 0 h 67"/>
                <a:gd name="T18" fmla="*/ 46 w 68"/>
                <a:gd name="T19" fmla="*/ 0 h 67"/>
                <a:gd name="T20" fmla="*/ 31 w 68"/>
                <a:gd name="T21" fmla="*/ 15 h 67"/>
                <a:gd name="T22" fmla="*/ 29 w 68"/>
                <a:gd name="T23" fmla="*/ 20 h 67"/>
                <a:gd name="T24" fmla="*/ 29 w 68"/>
                <a:gd name="T25" fmla="*/ 20 h 67"/>
                <a:gd name="T26" fmla="*/ 30 w 68"/>
                <a:gd name="T27" fmla="*/ 30 h 67"/>
                <a:gd name="T28" fmla="*/ 25 w 68"/>
                <a:gd name="T29" fmla="*/ 35 h 67"/>
                <a:gd name="T30" fmla="*/ 15 w 68"/>
                <a:gd name="T31" fmla="*/ 45 h 67"/>
                <a:gd name="T32" fmla="*/ 15 w 68"/>
                <a:gd name="T33" fmla="*/ 45 h 67"/>
                <a:gd name="T34" fmla="*/ 6 w 68"/>
                <a:gd name="T35" fmla="*/ 54 h 67"/>
                <a:gd name="T36" fmla="*/ 1 w 68"/>
                <a:gd name="T37" fmla="*/ 58 h 67"/>
                <a:gd name="T38" fmla="*/ 1 w 68"/>
                <a:gd name="T39" fmla="*/ 60 h 67"/>
                <a:gd name="T40" fmla="*/ 0 w 68"/>
                <a:gd name="T41" fmla="*/ 64 h 67"/>
                <a:gd name="T42" fmla="*/ 4 w 68"/>
                <a:gd name="T43" fmla="*/ 67 h 67"/>
                <a:gd name="T44" fmla="*/ 4 w 68"/>
                <a:gd name="T45" fmla="*/ 67 h 67"/>
                <a:gd name="T46" fmla="*/ 7 w 68"/>
                <a:gd name="T47" fmla="*/ 67 h 67"/>
                <a:gd name="T48" fmla="*/ 9 w 68"/>
                <a:gd name="T49" fmla="*/ 66 h 67"/>
                <a:gd name="T50" fmla="*/ 38 w 68"/>
                <a:gd name="T51" fmla="*/ 37 h 67"/>
                <a:gd name="T52" fmla="*/ 47 w 68"/>
                <a:gd name="T53" fmla="*/ 38 h 67"/>
                <a:gd name="T54" fmla="*/ 47 w 68"/>
                <a:gd name="T55" fmla="*/ 38 h 67"/>
                <a:gd name="T56" fmla="*/ 48 w 68"/>
                <a:gd name="T57" fmla="*/ 38 h 67"/>
                <a:gd name="T58" fmla="*/ 52 w 68"/>
                <a:gd name="T59" fmla="*/ 36 h 67"/>
                <a:gd name="T60" fmla="*/ 67 w 68"/>
                <a:gd name="T61" fmla="*/ 21 h 67"/>
                <a:gd name="T62" fmla="*/ 66 w 68"/>
                <a:gd name="T63" fmla="*/ 19 h 67"/>
                <a:gd name="T64" fmla="*/ 57 w 68"/>
                <a:gd name="T65" fmla="*/ 18 h 67"/>
                <a:gd name="T66" fmla="*/ 57 w 68"/>
                <a:gd name="T67" fmla="*/ 18 h 67"/>
                <a:gd name="T68" fmla="*/ 57 w 68"/>
                <a:gd name="T69" fmla="*/ 1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8" h="67">
                  <a:moveTo>
                    <a:pt x="57" y="18"/>
                  </a:moveTo>
                  <a:cubicBezTo>
                    <a:pt x="60" y="15"/>
                    <a:pt x="60" y="15"/>
                    <a:pt x="60" y="15"/>
                  </a:cubicBezTo>
                  <a:cubicBezTo>
                    <a:pt x="62" y="13"/>
                    <a:pt x="62" y="11"/>
                    <a:pt x="60" y="9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7" y="6"/>
                    <a:pt x="56" y="6"/>
                    <a:pt x="55" y="6"/>
                  </a:cubicBezTo>
                  <a:cubicBezTo>
                    <a:pt x="54" y="6"/>
                    <a:pt x="53" y="6"/>
                    <a:pt x="53" y="7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8" y="0"/>
                    <a:pt x="48" y="0"/>
                    <a:pt x="47" y="0"/>
                  </a:cubicBezTo>
                  <a:cubicBezTo>
                    <a:pt x="47" y="0"/>
                    <a:pt x="46" y="0"/>
                    <a:pt x="46" y="0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0" y="16"/>
                    <a:pt x="29" y="18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15" y="45"/>
                    <a:pt x="15" y="45"/>
                    <a:pt x="15" y="45"/>
                  </a:cubicBezTo>
                  <a:cubicBezTo>
                    <a:pt x="15" y="45"/>
                    <a:pt x="15" y="45"/>
                    <a:pt x="15" y="45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" y="59"/>
                    <a:pt x="1" y="60"/>
                    <a:pt x="1" y="6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5"/>
                    <a:pt x="2" y="67"/>
                    <a:pt x="4" y="67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8" y="67"/>
                    <a:pt x="9" y="67"/>
                    <a:pt x="9" y="66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7" y="38"/>
                    <a:pt x="47" y="38"/>
                    <a:pt x="48" y="38"/>
                  </a:cubicBezTo>
                  <a:cubicBezTo>
                    <a:pt x="49" y="38"/>
                    <a:pt x="51" y="37"/>
                    <a:pt x="52" y="36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68" y="20"/>
                    <a:pt x="67" y="19"/>
                    <a:pt x="66" y="19"/>
                  </a:cubicBezTo>
                  <a:lnTo>
                    <a:pt x="57" y="18"/>
                  </a:lnTo>
                  <a:close/>
                  <a:moveTo>
                    <a:pt x="57" y="18"/>
                  </a:moveTo>
                  <a:cubicBezTo>
                    <a:pt x="57" y="18"/>
                    <a:pt x="57" y="18"/>
                    <a:pt x="57" y="1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9" name="图形 48" descr="闪电">
            <a:extLst>
              <a:ext uri="{FF2B5EF4-FFF2-40B4-BE49-F238E27FC236}">
                <a16:creationId xmlns:a16="http://schemas.microsoft.com/office/drawing/2014/main" id="{22C05851-BAFB-2240-6006-1B60851AA3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5264" y="5604412"/>
            <a:ext cx="144000" cy="144000"/>
          </a:xfrm>
          <a:prstGeom prst="rect">
            <a:avLst/>
          </a:prstGeom>
        </p:spPr>
      </p:pic>
      <p:grpSp>
        <p:nvGrpSpPr>
          <p:cNvPr id="50" name="组合 49">
            <a:extLst>
              <a:ext uri="{FF2B5EF4-FFF2-40B4-BE49-F238E27FC236}">
                <a16:creationId xmlns:a16="http://schemas.microsoft.com/office/drawing/2014/main" id="{23C5F3C1-CF24-24DD-3C6F-50F9B01F7F27}"/>
              </a:ext>
            </a:extLst>
          </p:cNvPr>
          <p:cNvGrpSpPr/>
          <p:nvPr/>
        </p:nvGrpSpPr>
        <p:grpSpPr>
          <a:xfrm>
            <a:off x="9644514" y="5105182"/>
            <a:ext cx="144000" cy="144000"/>
            <a:chOff x="2273301" y="1931988"/>
            <a:chExt cx="692150" cy="719138"/>
          </a:xfrm>
          <a:solidFill>
            <a:srgbClr val="00B0F0"/>
          </a:solidFill>
        </p:grpSpPr>
        <p:sp>
          <p:nvSpPr>
            <p:cNvPr id="51" name="Freeform 135">
              <a:extLst>
                <a:ext uri="{FF2B5EF4-FFF2-40B4-BE49-F238E27FC236}">
                  <a16:creationId xmlns:a16="http://schemas.microsoft.com/office/drawing/2014/main" id="{F8DB8AFD-E610-A6F8-A523-260454396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8226" y="2543176"/>
              <a:ext cx="101600" cy="107950"/>
            </a:xfrm>
            <a:custGeom>
              <a:avLst/>
              <a:gdLst>
                <a:gd name="T0" fmla="*/ 19 w 35"/>
                <a:gd name="T1" fmla="*/ 0 h 37"/>
                <a:gd name="T2" fmla="*/ 1 w 35"/>
                <a:gd name="T3" fmla="*/ 28 h 37"/>
                <a:gd name="T4" fmla="*/ 3 w 35"/>
                <a:gd name="T5" fmla="*/ 35 h 37"/>
                <a:gd name="T6" fmla="*/ 11 w 35"/>
                <a:gd name="T7" fmla="*/ 37 h 37"/>
                <a:gd name="T8" fmla="*/ 35 w 35"/>
                <a:gd name="T9" fmla="*/ 14 h 37"/>
                <a:gd name="T10" fmla="*/ 32 w 35"/>
                <a:gd name="T11" fmla="*/ 11 h 37"/>
                <a:gd name="T12" fmla="*/ 19 w 35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7">
                  <a:moveTo>
                    <a:pt x="19" y="0"/>
                  </a:moveTo>
                  <a:cubicBezTo>
                    <a:pt x="1" y="28"/>
                    <a:pt x="1" y="28"/>
                    <a:pt x="1" y="28"/>
                  </a:cubicBezTo>
                  <a:cubicBezTo>
                    <a:pt x="0" y="31"/>
                    <a:pt x="2" y="33"/>
                    <a:pt x="3" y="35"/>
                  </a:cubicBezTo>
                  <a:cubicBezTo>
                    <a:pt x="5" y="36"/>
                    <a:pt x="9" y="37"/>
                    <a:pt x="11" y="37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4" y="13"/>
                    <a:pt x="33" y="12"/>
                    <a:pt x="32" y="11"/>
                  </a:cubicBezTo>
                  <a:cubicBezTo>
                    <a:pt x="27" y="8"/>
                    <a:pt x="23" y="4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136">
              <a:extLst>
                <a:ext uri="{FF2B5EF4-FFF2-40B4-BE49-F238E27FC236}">
                  <a16:creationId xmlns:a16="http://schemas.microsoft.com/office/drawing/2014/main" id="{7CC57265-467D-941F-E99C-CA99A0674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3301" y="2159001"/>
              <a:ext cx="511175" cy="484188"/>
            </a:xfrm>
            <a:custGeom>
              <a:avLst/>
              <a:gdLst>
                <a:gd name="T0" fmla="*/ 160 w 175"/>
                <a:gd name="T1" fmla="*/ 67 h 165"/>
                <a:gd name="T2" fmla="*/ 149 w 175"/>
                <a:gd name="T3" fmla="*/ 84 h 165"/>
                <a:gd name="T4" fmla="*/ 103 w 175"/>
                <a:gd name="T5" fmla="*/ 91 h 165"/>
                <a:gd name="T6" fmla="*/ 87 w 175"/>
                <a:gd name="T7" fmla="*/ 83 h 165"/>
                <a:gd name="T8" fmla="*/ 73 w 175"/>
                <a:gd name="T9" fmla="*/ 67 h 165"/>
                <a:gd name="T10" fmla="*/ 73 w 175"/>
                <a:gd name="T11" fmla="*/ 22 h 165"/>
                <a:gd name="T12" fmla="*/ 93 w 175"/>
                <a:gd name="T13" fmla="*/ 9 h 165"/>
                <a:gd name="T14" fmla="*/ 25 w 175"/>
                <a:gd name="T15" fmla="*/ 24 h 165"/>
                <a:gd name="T16" fmla="*/ 25 w 175"/>
                <a:gd name="T17" fmla="*/ 24 h 165"/>
                <a:gd name="T18" fmla="*/ 25 w 175"/>
                <a:gd name="T19" fmla="*/ 24 h 165"/>
                <a:gd name="T20" fmla="*/ 20 w 175"/>
                <a:gd name="T21" fmla="*/ 29 h 165"/>
                <a:gd name="T22" fmla="*/ 17 w 175"/>
                <a:gd name="T23" fmla="*/ 35 h 165"/>
                <a:gd name="T24" fmla="*/ 35 w 175"/>
                <a:gd name="T25" fmla="*/ 125 h 165"/>
                <a:gd name="T26" fmla="*/ 48 w 175"/>
                <a:gd name="T27" fmla="*/ 136 h 165"/>
                <a:gd name="T28" fmla="*/ 52 w 175"/>
                <a:gd name="T29" fmla="*/ 139 h 165"/>
                <a:gd name="T30" fmla="*/ 156 w 175"/>
                <a:gd name="T31" fmla="*/ 134 h 165"/>
                <a:gd name="T32" fmla="*/ 157 w 175"/>
                <a:gd name="T33" fmla="*/ 132 h 165"/>
                <a:gd name="T34" fmla="*/ 157 w 175"/>
                <a:gd name="T35" fmla="*/ 132 h 165"/>
                <a:gd name="T36" fmla="*/ 160 w 175"/>
                <a:gd name="T37" fmla="*/ 67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5" h="165">
                  <a:moveTo>
                    <a:pt x="160" y="67"/>
                  </a:moveTo>
                  <a:cubicBezTo>
                    <a:pt x="149" y="84"/>
                    <a:pt x="149" y="84"/>
                    <a:pt x="149" y="84"/>
                  </a:cubicBezTo>
                  <a:cubicBezTo>
                    <a:pt x="141" y="97"/>
                    <a:pt x="118" y="96"/>
                    <a:pt x="103" y="91"/>
                  </a:cubicBezTo>
                  <a:cubicBezTo>
                    <a:pt x="97" y="90"/>
                    <a:pt x="92" y="87"/>
                    <a:pt x="87" y="83"/>
                  </a:cubicBezTo>
                  <a:cubicBezTo>
                    <a:pt x="81" y="79"/>
                    <a:pt x="76" y="73"/>
                    <a:pt x="73" y="67"/>
                  </a:cubicBezTo>
                  <a:cubicBezTo>
                    <a:pt x="67" y="55"/>
                    <a:pt x="64" y="35"/>
                    <a:pt x="73" y="22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66" y="0"/>
                    <a:pt x="42" y="8"/>
                    <a:pt x="25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3" y="26"/>
                    <a:pt x="22" y="28"/>
                    <a:pt x="20" y="29"/>
                  </a:cubicBezTo>
                  <a:cubicBezTo>
                    <a:pt x="19" y="31"/>
                    <a:pt x="18" y="33"/>
                    <a:pt x="17" y="35"/>
                  </a:cubicBezTo>
                  <a:cubicBezTo>
                    <a:pt x="0" y="62"/>
                    <a:pt x="9" y="98"/>
                    <a:pt x="35" y="125"/>
                  </a:cubicBezTo>
                  <a:cubicBezTo>
                    <a:pt x="39" y="129"/>
                    <a:pt x="43" y="133"/>
                    <a:pt x="48" y="136"/>
                  </a:cubicBezTo>
                  <a:cubicBezTo>
                    <a:pt x="49" y="137"/>
                    <a:pt x="50" y="138"/>
                    <a:pt x="52" y="139"/>
                  </a:cubicBezTo>
                  <a:cubicBezTo>
                    <a:pt x="88" y="165"/>
                    <a:pt x="133" y="164"/>
                    <a:pt x="156" y="134"/>
                  </a:cubicBezTo>
                  <a:cubicBezTo>
                    <a:pt x="157" y="133"/>
                    <a:pt x="157" y="133"/>
                    <a:pt x="157" y="132"/>
                  </a:cubicBezTo>
                  <a:cubicBezTo>
                    <a:pt x="157" y="132"/>
                    <a:pt x="157" y="132"/>
                    <a:pt x="157" y="132"/>
                  </a:cubicBezTo>
                  <a:cubicBezTo>
                    <a:pt x="171" y="113"/>
                    <a:pt x="175" y="92"/>
                    <a:pt x="160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Freeform 137">
              <a:extLst>
                <a:ext uri="{FF2B5EF4-FFF2-40B4-BE49-F238E27FC236}">
                  <a16:creationId xmlns:a16="http://schemas.microsoft.com/office/drawing/2014/main" id="{2D7106E2-3F2C-9A2E-4701-1C435BD47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9201" y="2154238"/>
              <a:ext cx="271463" cy="265113"/>
            </a:xfrm>
            <a:custGeom>
              <a:avLst/>
              <a:gdLst>
                <a:gd name="T0" fmla="*/ 60 w 93"/>
                <a:gd name="T1" fmla="*/ 28 h 91"/>
                <a:gd name="T2" fmla="*/ 36 w 93"/>
                <a:gd name="T3" fmla="*/ 0 h 91"/>
                <a:gd name="T4" fmla="*/ 10 w 93"/>
                <a:gd name="T5" fmla="*/ 23 h 91"/>
                <a:gd name="T6" fmla="*/ 7 w 93"/>
                <a:gd name="T7" fmla="*/ 62 h 91"/>
                <a:gd name="T8" fmla="*/ 21 w 93"/>
                <a:gd name="T9" fmla="*/ 78 h 91"/>
                <a:gd name="T10" fmla="*/ 36 w 93"/>
                <a:gd name="T11" fmla="*/ 86 h 91"/>
                <a:gd name="T12" fmla="*/ 77 w 93"/>
                <a:gd name="T13" fmla="*/ 74 h 91"/>
                <a:gd name="T14" fmla="*/ 93 w 93"/>
                <a:gd name="T15" fmla="*/ 45 h 91"/>
                <a:gd name="T16" fmla="*/ 60 w 93"/>
                <a:gd name="T17" fmla="*/ 28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1">
                  <a:moveTo>
                    <a:pt x="60" y="28"/>
                  </a:moveTo>
                  <a:cubicBezTo>
                    <a:pt x="49" y="20"/>
                    <a:pt x="41" y="10"/>
                    <a:pt x="36" y="0"/>
                  </a:cubicBezTo>
                  <a:cubicBezTo>
                    <a:pt x="36" y="0"/>
                    <a:pt x="10" y="23"/>
                    <a:pt x="10" y="23"/>
                  </a:cubicBezTo>
                  <a:cubicBezTo>
                    <a:pt x="0" y="36"/>
                    <a:pt x="0" y="50"/>
                    <a:pt x="7" y="62"/>
                  </a:cubicBezTo>
                  <a:cubicBezTo>
                    <a:pt x="10" y="68"/>
                    <a:pt x="15" y="74"/>
                    <a:pt x="21" y="78"/>
                  </a:cubicBezTo>
                  <a:cubicBezTo>
                    <a:pt x="25" y="82"/>
                    <a:pt x="31" y="85"/>
                    <a:pt x="36" y="86"/>
                  </a:cubicBezTo>
                  <a:cubicBezTo>
                    <a:pt x="52" y="91"/>
                    <a:pt x="68" y="88"/>
                    <a:pt x="77" y="74"/>
                  </a:cubicBezTo>
                  <a:cubicBezTo>
                    <a:pt x="93" y="45"/>
                    <a:pt x="93" y="45"/>
                    <a:pt x="93" y="45"/>
                  </a:cubicBezTo>
                  <a:cubicBezTo>
                    <a:pt x="92" y="44"/>
                    <a:pt x="70" y="36"/>
                    <a:pt x="60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138">
              <a:extLst>
                <a:ext uri="{FF2B5EF4-FFF2-40B4-BE49-F238E27FC236}">
                  <a16:creationId xmlns:a16="http://schemas.microsoft.com/office/drawing/2014/main" id="{61313981-7C11-3437-AD9A-0ED7C39F7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976" y="1931988"/>
              <a:ext cx="371475" cy="336550"/>
            </a:xfrm>
            <a:custGeom>
              <a:avLst/>
              <a:gdLst>
                <a:gd name="T0" fmla="*/ 88 w 127"/>
                <a:gd name="T1" fmla="*/ 23 h 115"/>
                <a:gd name="T2" fmla="*/ 7 w 127"/>
                <a:gd name="T3" fmla="*/ 21 h 115"/>
                <a:gd name="T4" fmla="*/ 6 w 127"/>
                <a:gd name="T5" fmla="*/ 24 h 115"/>
                <a:gd name="T6" fmla="*/ 5 w 127"/>
                <a:gd name="T7" fmla="*/ 25 h 115"/>
                <a:gd name="T8" fmla="*/ 3 w 127"/>
                <a:gd name="T9" fmla="*/ 28 h 115"/>
                <a:gd name="T10" fmla="*/ 3 w 127"/>
                <a:gd name="T11" fmla="*/ 30 h 115"/>
                <a:gd name="T12" fmla="*/ 2 w 127"/>
                <a:gd name="T13" fmla="*/ 33 h 115"/>
                <a:gd name="T14" fmla="*/ 1 w 127"/>
                <a:gd name="T15" fmla="*/ 34 h 115"/>
                <a:gd name="T16" fmla="*/ 0 w 127"/>
                <a:gd name="T17" fmla="*/ 38 h 115"/>
                <a:gd name="T18" fmla="*/ 0 w 127"/>
                <a:gd name="T19" fmla="*/ 39 h 115"/>
                <a:gd name="T20" fmla="*/ 0 w 127"/>
                <a:gd name="T21" fmla="*/ 42 h 115"/>
                <a:gd name="T22" fmla="*/ 0 w 127"/>
                <a:gd name="T23" fmla="*/ 44 h 115"/>
                <a:gd name="T24" fmla="*/ 0 w 127"/>
                <a:gd name="T25" fmla="*/ 47 h 115"/>
                <a:gd name="T26" fmla="*/ 0 w 127"/>
                <a:gd name="T27" fmla="*/ 49 h 115"/>
                <a:gd name="T28" fmla="*/ 0 w 127"/>
                <a:gd name="T29" fmla="*/ 52 h 115"/>
                <a:gd name="T30" fmla="*/ 1 w 127"/>
                <a:gd name="T31" fmla="*/ 55 h 115"/>
                <a:gd name="T32" fmla="*/ 1 w 127"/>
                <a:gd name="T33" fmla="*/ 57 h 115"/>
                <a:gd name="T34" fmla="*/ 2 w 127"/>
                <a:gd name="T35" fmla="*/ 60 h 115"/>
                <a:gd name="T36" fmla="*/ 3 w 127"/>
                <a:gd name="T37" fmla="*/ 62 h 115"/>
                <a:gd name="T38" fmla="*/ 4 w 127"/>
                <a:gd name="T39" fmla="*/ 65 h 115"/>
                <a:gd name="T40" fmla="*/ 5 w 127"/>
                <a:gd name="T41" fmla="*/ 67 h 115"/>
                <a:gd name="T42" fmla="*/ 6 w 127"/>
                <a:gd name="T43" fmla="*/ 70 h 115"/>
                <a:gd name="T44" fmla="*/ 7 w 127"/>
                <a:gd name="T45" fmla="*/ 71 h 115"/>
                <a:gd name="T46" fmla="*/ 8 w 127"/>
                <a:gd name="T47" fmla="*/ 73 h 115"/>
                <a:gd name="T48" fmla="*/ 9 w 127"/>
                <a:gd name="T49" fmla="*/ 75 h 115"/>
                <a:gd name="T50" fmla="*/ 9 w 127"/>
                <a:gd name="T51" fmla="*/ 76 h 115"/>
                <a:gd name="T52" fmla="*/ 16 w 127"/>
                <a:gd name="T53" fmla="*/ 86 h 115"/>
                <a:gd name="T54" fmla="*/ 30 w 127"/>
                <a:gd name="T55" fmla="*/ 99 h 115"/>
                <a:gd name="T56" fmla="*/ 39 w 127"/>
                <a:gd name="T57" fmla="*/ 105 h 115"/>
                <a:gd name="T58" fmla="*/ 40 w 127"/>
                <a:gd name="T59" fmla="*/ 106 h 115"/>
                <a:gd name="T60" fmla="*/ 44 w 127"/>
                <a:gd name="T61" fmla="*/ 107 h 115"/>
                <a:gd name="T62" fmla="*/ 45 w 127"/>
                <a:gd name="T63" fmla="*/ 108 h 115"/>
                <a:gd name="T64" fmla="*/ 46 w 127"/>
                <a:gd name="T65" fmla="*/ 108 h 115"/>
                <a:gd name="T66" fmla="*/ 49 w 127"/>
                <a:gd name="T67" fmla="*/ 110 h 115"/>
                <a:gd name="T68" fmla="*/ 51 w 127"/>
                <a:gd name="T69" fmla="*/ 111 h 115"/>
                <a:gd name="T70" fmla="*/ 55 w 127"/>
                <a:gd name="T71" fmla="*/ 112 h 115"/>
                <a:gd name="T72" fmla="*/ 57 w 127"/>
                <a:gd name="T73" fmla="*/ 113 h 115"/>
                <a:gd name="T74" fmla="*/ 60 w 127"/>
                <a:gd name="T75" fmla="*/ 114 h 115"/>
                <a:gd name="T76" fmla="*/ 62 w 127"/>
                <a:gd name="T77" fmla="*/ 114 h 115"/>
                <a:gd name="T78" fmla="*/ 62 w 127"/>
                <a:gd name="T79" fmla="*/ 114 h 115"/>
                <a:gd name="T80" fmla="*/ 66 w 127"/>
                <a:gd name="T81" fmla="*/ 115 h 115"/>
                <a:gd name="T82" fmla="*/ 68 w 127"/>
                <a:gd name="T83" fmla="*/ 115 h 115"/>
                <a:gd name="T84" fmla="*/ 71 w 127"/>
                <a:gd name="T85" fmla="*/ 115 h 115"/>
                <a:gd name="T86" fmla="*/ 73 w 127"/>
                <a:gd name="T87" fmla="*/ 115 h 115"/>
                <a:gd name="T88" fmla="*/ 77 w 127"/>
                <a:gd name="T89" fmla="*/ 115 h 115"/>
                <a:gd name="T90" fmla="*/ 78 w 127"/>
                <a:gd name="T91" fmla="*/ 115 h 115"/>
                <a:gd name="T92" fmla="*/ 82 w 127"/>
                <a:gd name="T93" fmla="*/ 115 h 115"/>
                <a:gd name="T94" fmla="*/ 83 w 127"/>
                <a:gd name="T95" fmla="*/ 115 h 115"/>
                <a:gd name="T96" fmla="*/ 87 w 127"/>
                <a:gd name="T97" fmla="*/ 114 h 115"/>
                <a:gd name="T98" fmla="*/ 88 w 127"/>
                <a:gd name="T99" fmla="*/ 114 h 115"/>
                <a:gd name="T100" fmla="*/ 91 w 127"/>
                <a:gd name="T101" fmla="*/ 113 h 115"/>
                <a:gd name="T102" fmla="*/ 92 w 127"/>
                <a:gd name="T103" fmla="*/ 113 h 115"/>
                <a:gd name="T104" fmla="*/ 96 w 127"/>
                <a:gd name="T105" fmla="*/ 112 h 115"/>
                <a:gd name="T106" fmla="*/ 96 w 127"/>
                <a:gd name="T107" fmla="*/ 111 h 115"/>
                <a:gd name="T108" fmla="*/ 107 w 127"/>
                <a:gd name="T109" fmla="*/ 104 h 115"/>
                <a:gd name="T110" fmla="*/ 107 w 127"/>
                <a:gd name="T111" fmla="*/ 104 h 115"/>
                <a:gd name="T112" fmla="*/ 111 w 127"/>
                <a:gd name="T113" fmla="*/ 100 h 115"/>
                <a:gd name="T114" fmla="*/ 88 w 127"/>
                <a:gd name="T115" fmla="*/ 2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7" h="115">
                  <a:moveTo>
                    <a:pt x="88" y="23"/>
                  </a:moveTo>
                  <a:cubicBezTo>
                    <a:pt x="60" y="1"/>
                    <a:pt x="24" y="0"/>
                    <a:pt x="7" y="21"/>
                  </a:cubicBezTo>
                  <a:cubicBezTo>
                    <a:pt x="7" y="22"/>
                    <a:pt x="6" y="23"/>
                    <a:pt x="6" y="24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4" y="26"/>
                    <a:pt x="4" y="27"/>
                    <a:pt x="3" y="28"/>
                  </a:cubicBezTo>
                  <a:cubicBezTo>
                    <a:pt x="3" y="29"/>
                    <a:pt x="3" y="29"/>
                    <a:pt x="3" y="30"/>
                  </a:cubicBezTo>
                  <a:cubicBezTo>
                    <a:pt x="2" y="31"/>
                    <a:pt x="2" y="32"/>
                    <a:pt x="2" y="33"/>
                  </a:cubicBezTo>
                  <a:cubicBezTo>
                    <a:pt x="1" y="33"/>
                    <a:pt x="1" y="34"/>
                    <a:pt x="1" y="34"/>
                  </a:cubicBezTo>
                  <a:cubicBezTo>
                    <a:pt x="1" y="35"/>
                    <a:pt x="1" y="37"/>
                    <a:pt x="0" y="38"/>
                  </a:cubicBezTo>
                  <a:cubicBezTo>
                    <a:pt x="0" y="38"/>
                    <a:pt x="0" y="39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0" y="43"/>
                    <a:pt x="0" y="44"/>
                    <a:pt x="0" y="44"/>
                  </a:cubicBezTo>
                  <a:cubicBezTo>
                    <a:pt x="0" y="45"/>
                    <a:pt x="0" y="46"/>
                    <a:pt x="0" y="47"/>
                  </a:cubicBezTo>
                  <a:cubicBezTo>
                    <a:pt x="0" y="48"/>
                    <a:pt x="0" y="49"/>
                    <a:pt x="0" y="49"/>
                  </a:cubicBezTo>
                  <a:cubicBezTo>
                    <a:pt x="0" y="50"/>
                    <a:pt x="0" y="51"/>
                    <a:pt x="0" y="52"/>
                  </a:cubicBezTo>
                  <a:cubicBezTo>
                    <a:pt x="1" y="53"/>
                    <a:pt x="1" y="54"/>
                    <a:pt x="1" y="55"/>
                  </a:cubicBezTo>
                  <a:cubicBezTo>
                    <a:pt x="1" y="55"/>
                    <a:pt x="1" y="56"/>
                    <a:pt x="1" y="57"/>
                  </a:cubicBezTo>
                  <a:cubicBezTo>
                    <a:pt x="2" y="58"/>
                    <a:pt x="2" y="59"/>
                    <a:pt x="2" y="60"/>
                  </a:cubicBezTo>
                  <a:cubicBezTo>
                    <a:pt x="2" y="61"/>
                    <a:pt x="3" y="61"/>
                    <a:pt x="3" y="62"/>
                  </a:cubicBezTo>
                  <a:cubicBezTo>
                    <a:pt x="3" y="63"/>
                    <a:pt x="3" y="64"/>
                    <a:pt x="4" y="65"/>
                  </a:cubicBezTo>
                  <a:cubicBezTo>
                    <a:pt x="4" y="66"/>
                    <a:pt x="4" y="66"/>
                    <a:pt x="5" y="67"/>
                  </a:cubicBezTo>
                  <a:cubicBezTo>
                    <a:pt x="5" y="68"/>
                    <a:pt x="6" y="69"/>
                    <a:pt x="6" y="70"/>
                  </a:cubicBezTo>
                  <a:cubicBezTo>
                    <a:pt x="6" y="71"/>
                    <a:pt x="7" y="71"/>
                    <a:pt x="7" y="71"/>
                  </a:cubicBezTo>
                  <a:cubicBezTo>
                    <a:pt x="7" y="72"/>
                    <a:pt x="7" y="73"/>
                    <a:pt x="8" y="73"/>
                  </a:cubicBezTo>
                  <a:cubicBezTo>
                    <a:pt x="8" y="74"/>
                    <a:pt x="9" y="75"/>
                    <a:pt x="9" y="75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11" y="79"/>
                    <a:pt x="14" y="83"/>
                    <a:pt x="16" y="86"/>
                  </a:cubicBezTo>
                  <a:cubicBezTo>
                    <a:pt x="20" y="90"/>
                    <a:pt x="25" y="95"/>
                    <a:pt x="30" y="99"/>
                  </a:cubicBezTo>
                  <a:cubicBezTo>
                    <a:pt x="33" y="101"/>
                    <a:pt x="36" y="103"/>
                    <a:pt x="39" y="105"/>
                  </a:cubicBezTo>
                  <a:cubicBezTo>
                    <a:pt x="39" y="105"/>
                    <a:pt x="40" y="105"/>
                    <a:pt x="40" y="106"/>
                  </a:cubicBezTo>
                  <a:cubicBezTo>
                    <a:pt x="42" y="106"/>
                    <a:pt x="43" y="107"/>
                    <a:pt x="44" y="107"/>
                  </a:cubicBezTo>
                  <a:cubicBezTo>
                    <a:pt x="44" y="108"/>
                    <a:pt x="45" y="108"/>
                    <a:pt x="45" y="108"/>
                  </a:cubicBezTo>
                  <a:cubicBezTo>
                    <a:pt x="45" y="108"/>
                    <a:pt x="46" y="108"/>
                    <a:pt x="46" y="108"/>
                  </a:cubicBezTo>
                  <a:cubicBezTo>
                    <a:pt x="47" y="109"/>
                    <a:pt x="48" y="109"/>
                    <a:pt x="49" y="110"/>
                  </a:cubicBezTo>
                  <a:cubicBezTo>
                    <a:pt x="50" y="110"/>
                    <a:pt x="51" y="110"/>
                    <a:pt x="51" y="111"/>
                  </a:cubicBezTo>
                  <a:cubicBezTo>
                    <a:pt x="52" y="111"/>
                    <a:pt x="54" y="112"/>
                    <a:pt x="55" y="112"/>
                  </a:cubicBezTo>
                  <a:cubicBezTo>
                    <a:pt x="55" y="112"/>
                    <a:pt x="56" y="112"/>
                    <a:pt x="57" y="113"/>
                  </a:cubicBezTo>
                  <a:cubicBezTo>
                    <a:pt x="58" y="113"/>
                    <a:pt x="59" y="113"/>
                    <a:pt x="60" y="114"/>
                  </a:cubicBezTo>
                  <a:cubicBezTo>
                    <a:pt x="61" y="114"/>
                    <a:pt x="61" y="114"/>
                    <a:pt x="62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3" y="114"/>
                    <a:pt x="65" y="114"/>
                    <a:pt x="66" y="115"/>
                  </a:cubicBezTo>
                  <a:cubicBezTo>
                    <a:pt x="66" y="115"/>
                    <a:pt x="67" y="115"/>
                    <a:pt x="68" y="115"/>
                  </a:cubicBezTo>
                  <a:cubicBezTo>
                    <a:pt x="69" y="115"/>
                    <a:pt x="70" y="115"/>
                    <a:pt x="71" y="115"/>
                  </a:cubicBezTo>
                  <a:cubicBezTo>
                    <a:pt x="72" y="115"/>
                    <a:pt x="72" y="115"/>
                    <a:pt x="73" y="115"/>
                  </a:cubicBezTo>
                  <a:cubicBezTo>
                    <a:pt x="74" y="115"/>
                    <a:pt x="75" y="115"/>
                    <a:pt x="77" y="115"/>
                  </a:cubicBezTo>
                  <a:cubicBezTo>
                    <a:pt x="77" y="115"/>
                    <a:pt x="78" y="115"/>
                    <a:pt x="78" y="115"/>
                  </a:cubicBezTo>
                  <a:cubicBezTo>
                    <a:pt x="79" y="115"/>
                    <a:pt x="80" y="115"/>
                    <a:pt x="82" y="115"/>
                  </a:cubicBezTo>
                  <a:cubicBezTo>
                    <a:pt x="82" y="115"/>
                    <a:pt x="83" y="115"/>
                    <a:pt x="83" y="115"/>
                  </a:cubicBezTo>
                  <a:cubicBezTo>
                    <a:pt x="84" y="115"/>
                    <a:pt x="85" y="115"/>
                    <a:pt x="87" y="114"/>
                  </a:cubicBezTo>
                  <a:cubicBezTo>
                    <a:pt x="87" y="114"/>
                    <a:pt x="87" y="114"/>
                    <a:pt x="88" y="114"/>
                  </a:cubicBezTo>
                  <a:cubicBezTo>
                    <a:pt x="89" y="114"/>
                    <a:pt x="90" y="114"/>
                    <a:pt x="91" y="113"/>
                  </a:cubicBezTo>
                  <a:cubicBezTo>
                    <a:pt x="92" y="113"/>
                    <a:pt x="92" y="113"/>
                    <a:pt x="92" y="113"/>
                  </a:cubicBezTo>
                  <a:cubicBezTo>
                    <a:pt x="93" y="113"/>
                    <a:pt x="95" y="112"/>
                    <a:pt x="96" y="112"/>
                  </a:cubicBezTo>
                  <a:cubicBezTo>
                    <a:pt x="96" y="112"/>
                    <a:pt x="96" y="111"/>
                    <a:pt x="96" y="111"/>
                  </a:cubicBezTo>
                  <a:cubicBezTo>
                    <a:pt x="100" y="110"/>
                    <a:pt x="104" y="107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8" y="103"/>
                    <a:pt x="110" y="102"/>
                    <a:pt x="111" y="100"/>
                  </a:cubicBezTo>
                  <a:cubicBezTo>
                    <a:pt x="127" y="79"/>
                    <a:pt x="117" y="44"/>
                    <a:pt x="88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5" name="Freeform 39">
            <a:extLst>
              <a:ext uri="{FF2B5EF4-FFF2-40B4-BE49-F238E27FC236}">
                <a16:creationId xmlns:a16="http://schemas.microsoft.com/office/drawing/2014/main" id="{61BB1407-D8DF-D516-8D41-72A000FA60BB}"/>
              </a:ext>
            </a:extLst>
          </p:cNvPr>
          <p:cNvSpPr>
            <a:spLocks/>
          </p:cNvSpPr>
          <p:nvPr/>
        </p:nvSpPr>
        <p:spPr bwMode="auto">
          <a:xfrm>
            <a:off x="7690585" y="5570634"/>
            <a:ext cx="144000" cy="144000"/>
          </a:xfrm>
          <a:custGeom>
            <a:avLst/>
            <a:gdLst>
              <a:gd name="T0" fmla="*/ 133 w 173"/>
              <a:gd name="T1" fmla="*/ 159 h 159"/>
              <a:gd name="T2" fmla="*/ 90 w 173"/>
              <a:gd name="T3" fmla="*/ 159 h 159"/>
              <a:gd name="T4" fmla="*/ 86 w 173"/>
              <a:gd name="T5" fmla="*/ 146 h 159"/>
              <a:gd name="T6" fmla="*/ 70 w 173"/>
              <a:gd name="T7" fmla="*/ 120 h 159"/>
              <a:gd name="T8" fmla="*/ 52 w 173"/>
              <a:gd name="T9" fmla="*/ 139 h 159"/>
              <a:gd name="T10" fmla="*/ 51 w 173"/>
              <a:gd name="T11" fmla="*/ 157 h 159"/>
              <a:gd name="T12" fmla="*/ 5 w 173"/>
              <a:gd name="T13" fmla="*/ 157 h 159"/>
              <a:gd name="T14" fmla="*/ 0 w 173"/>
              <a:gd name="T15" fmla="*/ 152 h 159"/>
              <a:gd name="T16" fmla="*/ 0 w 173"/>
              <a:gd name="T17" fmla="*/ 107 h 159"/>
              <a:gd name="T18" fmla="*/ 13 w 173"/>
              <a:gd name="T19" fmla="*/ 105 h 159"/>
              <a:gd name="T20" fmla="*/ 36 w 173"/>
              <a:gd name="T21" fmla="*/ 93 h 159"/>
              <a:gd name="T22" fmla="*/ 14 w 173"/>
              <a:gd name="T23" fmla="*/ 80 h 159"/>
              <a:gd name="T24" fmla="*/ 0 w 173"/>
              <a:gd name="T25" fmla="*/ 77 h 159"/>
              <a:gd name="T26" fmla="*/ 2 w 173"/>
              <a:gd name="T27" fmla="*/ 42 h 159"/>
              <a:gd name="T28" fmla="*/ 6 w 173"/>
              <a:gd name="T29" fmla="*/ 38 h 159"/>
              <a:gd name="T30" fmla="*/ 56 w 173"/>
              <a:gd name="T31" fmla="*/ 38 h 159"/>
              <a:gd name="T32" fmla="*/ 60 w 173"/>
              <a:gd name="T33" fmla="*/ 25 h 159"/>
              <a:gd name="T34" fmla="*/ 70 w 173"/>
              <a:gd name="T35" fmla="*/ 1 h 159"/>
              <a:gd name="T36" fmla="*/ 85 w 173"/>
              <a:gd name="T37" fmla="*/ 25 h 159"/>
              <a:gd name="T38" fmla="*/ 91 w 173"/>
              <a:gd name="T39" fmla="*/ 38 h 159"/>
              <a:gd name="T40" fmla="*/ 132 w 173"/>
              <a:gd name="T41" fmla="*/ 39 h 159"/>
              <a:gd name="T42" fmla="*/ 137 w 173"/>
              <a:gd name="T43" fmla="*/ 43 h 159"/>
              <a:gd name="T44" fmla="*/ 137 w 173"/>
              <a:gd name="T45" fmla="*/ 80 h 159"/>
              <a:gd name="T46" fmla="*/ 153 w 173"/>
              <a:gd name="T47" fmla="*/ 81 h 159"/>
              <a:gd name="T48" fmla="*/ 173 w 173"/>
              <a:gd name="T49" fmla="*/ 95 h 159"/>
              <a:gd name="T50" fmla="*/ 147 w 173"/>
              <a:gd name="T51" fmla="*/ 107 h 159"/>
              <a:gd name="T52" fmla="*/ 138 w 173"/>
              <a:gd name="T53" fmla="*/ 110 h 159"/>
              <a:gd name="T54" fmla="*/ 137 w 173"/>
              <a:gd name="T55" fmla="*/ 155 h 159"/>
              <a:gd name="T56" fmla="*/ 133 w 173"/>
              <a:gd name="T57" fmla="*/ 15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73" h="159">
                <a:moveTo>
                  <a:pt x="133" y="159"/>
                </a:moveTo>
                <a:cubicBezTo>
                  <a:pt x="122" y="158"/>
                  <a:pt x="94" y="158"/>
                  <a:pt x="90" y="159"/>
                </a:cubicBezTo>
                <a:cubicBezTo>
                  <a:pt x="84" y="159"/>
                  <a:pt x="82" y="152"/>
                  <a:pt x="86" y="146"/>
                </a:cubicBezTo>
                <a:cubicBezTo>
                  <a:pt x="91" y="139"/>
                  <a:pt x="98" y="120"/>
                  <a:pt x="70" y="120"/>
                </a:cubicBezTo>
                <a:cubicBezTo>
                  <a:pt x="42" y="120"/>
                  <a:pt x="50" y="135"/>
                  <a:pt x="52" y="139"/>
                </a:cubicBezTo>
                <a:cubicBezTo>
                  <a:pt x="54" y="144"/>
                  <a:pt x="64" y="157"/>
                  <a:pt x="51" y="157"/>
                </a:cubicBezTo>
                <a:cubicBezTo>
                  <a:pt x="42" y="157"/>
                  <a:pt x="16" y="157"/>
                  <a:pt x="5" y="157"/>
                </a:cubicBezTo>
                <a:cubicBezTo>
                  <a:pt x="2" y="157"/>
                  <a:pt x="0" y="155"/>
                  <a:pt x="0" y="152"/>
                </a:cubicBezTo>
                <a:cubicBezTo>
                  <a:pt x="0" y="140"/>
                  <a:pt x="0" y="112"/>
                  <a:pt x="0" y="107"/>
                </a:cubicBezTo>
                <a:cubicBezTo>
                  <a:pt x="0" y="102"/>
                  <a:pt x="9" y="102"/>
                  <a:pt x="13" y="105"/>
                </a:cubicBezTo>
                <a:cubicBezTo>
                  <a:pt x="16" y="108"/>
                  <a:pt x="36" y="125"/>
                  <a:pt x="36" y="93"/>
                </a:cubicBezTo>
                <a:cubicBezTo>
                  <a:pt x="37" y="60"/>
                  <a:pt x="16" y="77"/>
                  <a:pt x="14" y="80"/>
                </a:cubicBezTo>
                <a:cubicBezTo>
                  <a:pt x="12" y="82"/>
                  <a:pt x="0" y="89"/>
                  <a:pt x="0" y="77"/>
                </a:cubicBezTo>
                <a:cubicBezTo>
                  <a:pt x="0" y="68"/>
                  <a:pt x="1" y="50"/>
                  <a:pt x="2" y="42"/>
                </a:cubicBezTo>
                <a:cubicBezTo>
                  <a:pt x="2" y="39"/>
                  <a:pt x="3" y="38"/>
                  <a:pt x="6" y="38"/>
                </a:cubicBezTo>
                <a:cubicBezTo>
                  <a:pt x="18" y="38"/>
                  <a:pt x="54" y="38"/>
                  <a:pt x="56" y="38"/>
                </a:cubicBezTo>
                <a:cubicBezTo>
                  <a:pt x="60" y="37"/>
                  <a:pt x="64" y="33"/>
                  <a:pt x="60" y="25"/>
                </a:cubicBezTo>
                <a:cubicBezTo>
                  <a:pt x="56" y="17"/>
                  <a:pt x="49" y="1"/>
                  <a:pt x="70" y="1"/>
                </a:cubicBezTo>
                <a:cubicBezTo>
                  <a:pt x="91" y="0"/>
                  <a:pt x="90" y="13"/>
                  <a:pt x="85" y="25"/>
                </a:cubicBezTo>
                <a:cubicBezTo>
                  <a:pt x="80" y="38"/>
                  <a:pt x="85" y="37"/>
                  <a:pt x="91" y="38"/>
                </a:cubicBezTo>
                <a:cubicBezTo>
                  <a:pt x="96" y="38"/>
                  <a:pt x="121" y="39"/>
                  <a:pt x="132" y="39"/>
                </a:cubicBezTo>
                <a:cubicBezTo>
                  <a:pt x="135" y="39"/>
                  <a:pt x="137" y="42"/>
                  <a:pt x="137" y="43"/>
                </a:cubicBezTo>
                <a:cubicBezTo>
                  <a:pt x="137" y="62"/>
                  <a:pt x="137" y="76"/>
                  <a:pt x="137" y="80"/>
                </a:cubicBezTo>
                <a:cubicBezTo>
                  <a:pt x="137" y="82"/>
                  <a:pt x="142" y="89"/>
                  <a:pt x="153" y="81"/>
                </a:cubicBezTo>
                <a:cubicBezTo>
                  <a:pt x="164" y="73"/>
                  <a:pt x="173" y="79"/>
                  <a:pt x="173" y="95"/>
                </a:cubicBezTo>
                <a:cubicBezTo>
                  <a:pt x="173" y="111"/>
                  <a:pt x="162" y="122"/>
                  <a:pt x="147" y="107"/>
                </a:cubicBezTo>
                <a:cubicBezTo>
                  <a:pt x="140" y="101"/>
                  <a:pt x="138" y="104"/>
                  <a:pt x="138" y="110"/>
                </a:cubicBezTo>
                <a:cubicBezTo>
                  <a:pt x="139" y="115"/>
                  <a:pt x="137" y="144"/>
                  <a:pt x="137" y="155"/>
                </a:cubicBezTo>
                <a:cubicBezTo>
                  <a:pt x="137" y="157"/>
                  <a:pt x="135" y="159"/>
                  <a:pt x="133" y="159"/>
                </a:cubicBezTo>
                <a:close/>
              </a:path>
            </a:pathLst>
          </a:custGeom>
          <a:solidFill>
            <a:srgbClr val="7030A0"/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6" name="图形 55" descr="星形">
            <a:extLst>
              <a:ext uri="{FF2B5EF4-FFF2-40B4-BE49-F238E27FC236}">
                <a16:creationId xmlns:a16="http://schemas.microsoft.com/office/drawing/2014/main" id="{14ADAF46-ED17-5E71-4535-23FBBDEC1B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7646" y="522105"/>
            <a:ext cx="360000" cy="35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22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B950C-EB7A-3705-845C-295E5E41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E4073E4-B88F-88E7-4B21-F530017474C2}"/>
              </a:ext>
            </a:extLst>
          </p:cNvPr>
          <p:cNvSpPr/>
          <p:nvPr/>
        </p:nvSpPr>
        <p:spPr>
          <a:xfrm>
            <a:off x="481144" y="340236"/>
            <a:ext cx="864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商业模式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影响力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AAAS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0697BA0-B8F1-A038-783F-858B367AFB55}"/>
              </a:ext>
            </a:extLst>
          </p:cNvPr>
          <p:cNvSpPr/>
          <p:nvPr/>
        </p:nvSpPr>
        <p:spPr>
          <a:xfrm>
            <a:off x="397042" y="1045827"/>
            <a:ext cx="7315199" cy="432000"/>
          </a:xfrm>
          <a:prstGeom prst="roundRect">
            <a:avLst/>
          </a:prstGeom>
          <a:solidFill>
            <a:srgbClr val="FEF0F3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影响力智能体是我们推出的第一个产品，后续还有长线的完整商业模式，驱动平台可持续增长与生态闭环。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9CD28E5-4EAC-A38B-3162-BD51FACB82DF}"/>
              </a:ext>
            </a:extLst>
          </p:cNvPr>
          <p:cNvSpPr/>
          <p:nvPr/>
        </p:nvSpPr>
        <p:spPr>
          <a:xfrm>
            <a:off x="1471028" y="2223156"/>
            <a:ext cx="4780547" cy="72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智能体集群 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千人千面 </a:t>
            </a:r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敏捷生成 </a:t>
            </a:r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全场景覆盖</a:t>
            </a: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473906EB-30AF-D03E-81D3-7B12A80B0D69}"/>
              </a:ext>
            </a:extLst>
          </p:cNvPr>
          <p:cNvSpPr/>
          <p:nvPr/>
        </p:nvSpPr>
        <p:spPr>
          <a:xfrm>
            <a:off x="2241301" y="1600825"/>
            <a:ext cx="3240000" cy="540000"/>
          </a:xfrm>
          <a:prstGeom prst="triangle">
            <a:avLst/>
          </a:prstGeom>
          <a:solidFill>
            <a:srgbClr val="E11D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影响力本体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BA1133D-0F8E-A2D1-E93A-0114D7665064}"/>
              </a:ext>
            </a:extLst>
          </p:cNvPr>
          <p:cNvSpPr/>
          <p:nvPr/>
        </p:nvSpPr>
        <p:spPr>
          <a:xfrm>
            <a:off x="1471028" y="3025487"/>
            <a:ext cx="4780547" cy="432000"/>
          </a:xfrm>
          <a:prstGeom prst="roundRect">
            <a:avLst>
              <a:gd name="adj" fmla="val 50000"/>
            </a:avLst>
          </a:prstGeom>
          <a:solidFill>
            <a:srgbClr val="FEF0F3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一体化服务体系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（线上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线下全触点）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CD32899-AF92-A91A-05EA-3D9D4C46D934}"/>
              </a:ext>
            </a:extLst>
          </p:cNvPr>
          <p:cNvSpPr/>
          <p:nvPr/>
        </p:nvSpPr>
        <p:spPr>
          <a:xfrm>
            <a:off x="461212" y="4092713"/>
            <a:ext cx="2160000" cy="1620000"/>
          </a:xfrm>
          <a:prstGeom prst="roundRect">
            <a:avLst>
              <a:gd name="adj" fmla="val 6579"/>
            </a:avLst>
          </a:prstGeom>
          <a:noFill/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F6A0104-76E3-66A5-A8EE-378E00B47095}"/>
              </a:ext>
            </a:extLst>
          </p:cNvPr>
          <p:cNvSpPr/>
          <p:nvPr/>
        </p:nvSpPr>
        <p:spPr>
          <a:xfrm>
            <a:off x="2767265" y="4092713"/>
            <a:ext cx="2160000" cy="1620000"/>
          </a:xfrm>
          <a:prstGeom prst="roundRect">
            <a:avLst>
              <a:gd name="adj" fmla="val 6579"/>
            </a:avLst>
          </a:prstGeom>
          <a:noFill/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A28EDA7-E66A-98AC-22A7-A957360A6B98}"/>
              </a:ext>
            </a:extLst>
          </p:cNvPr>
          <p:cNvSpPr/>
          <p:nvPr/>
        </p:nvSpPr>
        <p:spPr>
          <a:xfrm>
            <a:off x="5101390" y="4092713"/>
            <a:ext cx="2160000" cy="1620000"/>
          </a:xfrm>
          <a:prstGeom prst="roundRect">
            <a:avLst>
              <a:gd name="adj" fmla="val 6579"/>
            </a:avLst>
          </a:prstGeom>
          <a:noFill/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B4595A7-18E0-D477-2291-3C84B78320C8}"/>
              </a:ext>
            </a:extLst>
          </p:cNvPr>
          <p:cNvSpPr/>
          <p:nvPr/>
        </p:nvSpPr>
        <p:spPr>
          <a:xfrm>
            <a:off x="641212" y="4183751"/>
            <a:ext cx="1800000" cy="301709"/>
          </a:xfrm>
          <a:prstGeom prst="roundRect">
            <a:avLst>
              <a:gd name="adj" fmla="val 50000"/>
            </a:avLst>
          </a:prstGeom>
          <a:solidFill>
            <a:srgbClr val="FEF0F3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</a:t>
            </a:r>
            <a:r>
              <a:rPr lang="en-US" altLang="zh-CN" sz="14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en-US" altLang="zh-CN" sz="1400" b="1" dirty="0" err="1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LiberThink</a:t>
            </a:r>
            <a:endParaRPr lang="zh-CN" altLang="en-US" sz="1400" b="1" dirty="0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F6A9F9D-6F59-6545-C12C-C71BF2E075BB}"/>
              </a:ext>
            </a:extLst>
          </p:cNvPr>
          <p:cNvSpPr/>
          <p:nvPr/>
        </p:nvSpPr>
        <p:spPr>
          <a:xfrm>
            <a:off x="2947265" y="4183751"/>
            <a:ext cx="1800000" cy="301709"/>
          </a:xfrm>
          <a:prstGeom prst="roundRect">
            <a:avLst>
              <a:gd name="adj" fmla="val 50000"/>
            </a:avLst>
          </a:prstGeom>
          <a:solidFill>
            <a:srgbClr val="FEF0F3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altLang="zh-CN" sz="14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en-US" altLang="zh-CN" sz="1400" b="1" dirty="0" err="1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BusinessAI</a:t>
            </a:r>
            <a:r>
              <a:rPr lang="en-US" altLang="zh-CN" sz="14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1400" b="1" dirty="0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A40279D-EA3D-AD78-8A5D-B0CB4C63EAA7}"/>
              </a:ext>
            </a:extLst>
          </p:cNvPr>
          <p:cNvSpPr/>
          <p:nvPr/>
        </p:nvSpPr>
        <p:spPr>
          <a:xfrm>
            <a:off x="5281390" y="4183751"/>
            <a:ext cx="1800000" cy="301709"/>
          </a:xfrm>
          <a:prstGeom prst="roundRect">
            <a:avLst>
              <a:gd name="adj" fmla="val 50000"/>
            </a:avLst>
          </a:prstGeom>
          <a:solidFill>
            <a:srgbClr val="FEF0F3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  <a:r>
              <a:rPr lang="en-US" altLang="zh-CN" sz="14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·AiLean</a:t>
            </a:r>
            <a:endParaRPr lang="zh-CN" altLang="en-US" sz="1400" b="1" dirty="0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7172402-F64B-425B-FAE6-C31643E40951}"/>
              </a:ext>
            </a:extLst>
          </p:cNvPr>
          <p:cNvSpPr/>
          <p:nvPr/>
        </p:nvSpPr>
        <p:spPr>
          <a:xfrm>
            <a:off x="641212" y="4589732"/>
            <a:ext cx="1800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带货 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AI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发传单 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文案爆改</a:t>
            </a:r>
            <a:b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扩写润色 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味</a:t>
            </a:r>
            <a:b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垂直场景加速流量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6EC209-FB59-7EFB-5D88-97F78664EB45}"/>
              </a:ext>
            </a:extLst>
          </p:cNvPr>
          <p:cNvSpPr/>
          <p:nvPr/>
        </p:nvSpPr>
        <p:spPr>
          <a:xfrm>
            <a:off x="2947265" y="4589732"/>
            <a:ext cx="1800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陪伴 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AI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签证 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AI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漫剧</a:t>
            </a:r>
            <a:b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 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AI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心理测评</a:t>
            </a:r>
            <a:b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重构业务流程，降本增效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00D739-4511-780F-4DAD-538EC2D99328}"/>
              </a:ext>
            </a:extLst>
          </p:cNvPr>
          <p:cNvSpPr/>
          <p:nvPr/>
        </p:nvSpPr>
        <p:spPr>
          <a:xfrm>
            <a:off x="5281390" y="4589732"/>
            <a:ext cx="1800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招聘 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客服 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智能问数</a:t>
            </a:r>
            <a:b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 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资讯 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合同审查 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票据处理</a:t>
            </a:r>
            <a:b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全链路精益增长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D030E33-A71A-B179-A309-F909C43C5191}"/>
              </a:ext>
            </a:extLst>
          </p:cNvPr>
          <p:cNvSpPr/>
          <p:nvPr/>
        </p:nvSpPr>
        <p:spPr>
          <a:xfrm>
            <a:off x="641212" y="5330416"/>
            <a:ext cx="1800000" cy="301709"/>
          </a:xfrm>
          <a:prstGeom prst="roundRect">
            <a:avLst>
              <a:gd name="adj" fmla="val 50000"/>
            </a:avLst>
          </a:prstGeom>
          <a:solidFill>
            <a:srgbClr val="FEF0F3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加速流量 </a:t>
            </a:r>
            <a:r>
              <a:rPr lang="en-US" altLang="zh-CN" sz="105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5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轻松获客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E495EDF-AFA3-4FF7-E579-DC9F17113CE9}"/>
              </a:ext>
            </a:extLst>
          </p:cNvPr>
          <p:cNvSpPr/>
          <p:nvPr/>
        </p:nvSpPr>
        <p:spPr>
          <a:xfrm>
            <a:off x="2947265" y="5330416"/>
            <a:ext cx="1800000" cy="301709"/>
          </a:xfrm>
          <a:prstGeom prst="roundRect">
            <a:avLst>
              <a:gd name="adj" fmla="val 50000"/>
            </a:avLst>
          </a:prstGeom>
          <a:solidFill>
            <a:srgbClr val="FEF0F3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重构流程 </a:t>
            </a:r>
            <a:r>
              <a:rPr lang="en-US" altLang="zh-CN" sz="105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5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降本增效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DC9472D-4715-F0A6-1B49-6F8E425D6E1A}"/>
              </a:ext>
            </a:extLst>
          </p:cNvPr>
          <p:cNvSpPr/>
          <p:nvPr/>
        </p:nvSpPr>
        <p:spPr>
          <a:xfrm>
            <a:off x="5281390" y="5330416"/>
            <a:ext cx="1800000" cy="301709"/>
          </a:xfrm>
          <a:prstGeom prst="roundRect">
            <a:avLst>
              <a:gd name="adj" fmla="val 50000"/>
            </a:avLst>
          </a:prstGeom>
          <a:solidFill>
            <a:srgbClr val="FEF0F3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提效降本 </a:t>
            </a:r>
            <a:r>
              <a:rPr lang="en-US" altLang="zh-CN" sz="105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5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精益增长</a:t>
            </a:r>
          </a:p>
        </p:txBody>
      </p:sp>
      <p:pic>
        <p:nvPicPr>
          <p:cNvPr id="37" name="图形 36" descr="火箭">
            <a:extLst>
              <a:ext uri="{FF2B5EF4-FFF2-40B4-BE49-F238E27FC236}">
                <a16:creationId xmlns:a16="http://schemas.microsoft.com/office/drawing/2014/main" id="{4AC21FD7-5460-8C04-C13E-C7854D38F6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924" y="5363422"/>
            <a:ext cx="216000" cy="216000"/>
          </a:xfrm>
          <a:prstGeom prst="rect">
            <a:avLst/>
          </a:prstGeom>
        </p:spPr>
      </p:pic>
      <p:pic>
        <p:nvPicPr>
          <p:cNvPr id="38" name="图形 37" descr="上升趋势">
            <a:extLst>
              <a:ext uri="{FF2B5EF4-FFF2-40B4-BE49-F238E27FC236}">
                <a16:creationId xmlns:a16="http://schemas.microsoft.com/office/drawing/2014/main" id="{1B8E2231-2D5D-23BF-9653-7DAE2BD025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9147" y="5364763"/>
            <a:ext cx="216000" cy="216000"/>
          </a:xfrm>
          <a:prstGeom prst="rect">
            <a:avLst/>
          </a:prstGeom>
        </p:spPr>
      </p:pic>
      <p:sp>
        <p:nvSpPr>
          <p:cNvPr id="39" name="Freeform 41">
            <a:extLst>
              <a:ext uri="{FF2B5EF4-FFF2-40B4-BE49-F238E27FC236}">
                <a16:creationId xmlns:a16="http://schemas.microsoft.com/office/drawing/2014/main" id="{978BB1AF-7374-0794-64CD-3158F8C5F250}"/>
              </a:ext>
            </a:extLst>
          </p:cNvPr>
          <p:cNvSpPr>
            <a:spLocks noEditPoints="1"/>
          </p:cNvSpPr>
          <p:nvPr/>
        </p:nvSpPr>
        <p:spPr bwMode="auto">
          <a:xfrm>
            <a:off x="3015088" y="5363021"/>
            <a:ext cx="216000" cy="216000"/>
          </a:xfrm>
          <a:custGeom>
            <a:avLst/>
            <a:gdLst>
              <a:gd name="T0" fmla="*/ 186 w 199"/>
              <a:gd name="T1" fmla="*/ 80 h 200"/>
              <a:gd name="T2" fmla="*/ 170 w 199"/>
              <a:gd name="T3" fmla="*/ 80 h 200"/>
              <a:gd name="T4" fmla="*/ 163 w 199"/>
              <a:gd name="T5" fmla="*/ 64 h 200"/>
              <a:gd name="T6" fmla="*/ 175 w 199"/>
              <a:gd name="T7" fmla="*/ 52 h 200"/>
              <a:gd name="T8" fmla="*/ 175 w 199"/>
              <a:gd name="T9" fmla="*/ 33 h 200"/>
              <a:gd name="T10" fmla="*/ 165 w 199"/>
              <a:gd name="T11" fmla="*/ 24 h 200"/>
              <a:gd name="T12" fmla="*/ 146 w 199"/>
              <a:gd name="T13" fmla="*/ 24 h 200"/>
              <a:gd name="T14" fmla="*/ 135 w 199"/>
              <a:gd name="T15" fmla="*/ 36 h 200"/>
              <a:gd name="T16" fmla="*/ 120 w 199"/>
              <a:gd name="T17" fmla="*/ 30 h 200"/>
              <a:gd name="T18" fmla="*/ 120 w 199"/>
              <a:gd name="T19" fmla="*/ 13 h 200"/>
              <a:gd name="T20" fmla="*/ 106 w 199"/>
              <a:gd name="T21" fmla="*/ 0 h 200"/>
              <a:gd name="T22" fmla="*/ 93 w 199"/>
              <a:gd name="T23" fmla="*/ 0 h 200"/>
              <a:gd name="T24" fmla="*/ 80 w 199"/>
              <a:gd name="T25" fmla="*/ 13 h 200"/>
              <a:gd name="T26" fmla="*/ 80 w 199"/>
              <a:gd name="T27" fmla="*/ 30 h 200"/>
              <a:gd name="T28" fmla="*/ 64 w 199"/>
              <a:gd name="T29" fmla="*/ 36 h 200"/>
              <a:gd name="T30" fmla="*/ 52 w 199"/>
              <a:gd name="T31" fmla="*/ 24 h 200"/>
              <a:gd name="T32" fmla="*/ 33 w 199"/>
              <a:gd name="T33" fmla="*/ 24 h 200"/>
              <a:gd name="T34" fmla="*/ 24 w 199"/>
              <a:gd name="T35" fmla="*/ 33 h 200"/>
              <a:gd name="T36" fmla="*/ 24 w 199"/>
              <a:gd name="T37" fmla="*/ 52 h 200"/>
              <a:gd name="T38" fmla="*/ 36 w 199"/>
              <a:gd name="T39" fmla="*/ 64 h 200"/>
              <a:gd name="T40" fmla="*/ 29 w 199"/>
              <a:gd name="T41" fmla="*/ 80 h 200"/>
              <a:gd name="T42" fmla="*/ 13 w 199"/>
              <a:gd name="T43" fmla="*/ 80 h 200"/>
              <a:gd name="T44" fmla="*/ 0 w 199"/>
              <a:gd name="T45" fmla="*/ 93 h 200"/>
              <a:gd name="T46" fmla="*/ 0 w 199"/>
              <a:gd name="T47" fmla="*/ 107 h 200"/>
              <a:gd name="T48" fmla="*/ 13 w 199"/>
              <a:gd name="T49" fmla="*/ 120 h 200"/>
              <a:gd name="T50" fmla="*/ 29 w 199"/>
              <a:gd name="T51" fmla="*/ 120 h 200"/>
              <a:gd name="T52" fmla="*/ 35 w 199"/>
              <a:gd name="T53" fmla="*/ 135 h 200"/>
              <a:gd name="T54" fmla="*/ 24 w 199"/>
              <a:gd name="T55" fmla="*/ 147 h 200"/>
              <a:gd name="T56" fmla="*/ 24 w 199"/>
              <a:gd name="T57" fmla="*/ 166 h 200"/>
              <a:gd name="T58" fmla="*/ 33 w 199"/>
              <a:gd name="T59" fmla="*/ 175 h 200"/>
              <a:gd name="T60" fmla="*/ 52 w 199"/>
              <a:gd name="T61" fmla="*/ 175 h 200"/>
              <a:gd name="T62" fmla="*/ 63 w 199"/>
              <a:gd name="T63" fmla="*/ 163 h 200"/>
              <a:gd name="T64" fmla="*/ 80 w 199"/>
              <a:gd name="T65" fmla="*/ 170 h 200"/>
              <a:gd name="T66" fmla="*/ 80 w 199"/>
              <a:gd name="T67" fmla="*/ 186 h 200"/>
              <a:gd name="T68" fmla="*/ 93 w 199"/>
              <a:gd name="T69" fmla="*/ 200 h 200"/>
              <a:gd name="T70" fmla="*/ 106 w 199"/>
              <a:gd name="T71" fmla="*/ 200 h 200"/>
              <a:gd name="T72" fmla="*/ 120 w 199"/>
              <a:gd name="T73" fmla="*/ 186 h 200"/>
              <a:gd name="T74" fmla="*/ 120 w 199"/>
              <a:gd name="T75" fmla="*/ 170 h 200"/>
              <a:gd name="T76" fmla="*/ 135 w 199"/>
              <a:gd name="T77" fmla="*/ 164 h 200"/>
              <a:gd name="T78" fmla="*/ 146 w 199"/>
              <a:gd name="T79" fmla="*/ 175 h 200"/>
              <a:gd name="T80" fmla="*/ 165 w 199"/>
              <a:gd name="T81" fmla="*/ 175 h 200"/>
              <a:gd name="T82" fmla="*/ 175 w 199"/>
              <a:gd name="T83" fmla="*/ 166 h 200"/>
              <a:gd name="T84" fmla="*/ 175 w 199"/>
              <a:gd name="T85" fmla="*/ 147 h 200"/>
              <a:gd name="T86" fmla="*/ 163 w 199"/>
              <a:gd name="T87" fmla="*/ 135 h 200"/>
              <a:gd name="T88" fmla="*/ 170 w 199"/>
              <a:gd name="T89" fmla="*/ 120 h 200"/>
              <a:gd name="T90" fmla="*/ 186 w 199"/>
              <a:gd name="T91" fmla="*/ 120 h 200"/>
              <a:gd name="T92" fmla="*/ 199 w 199"/>
              <a:gd name="T93" fmla="*/ 107 h 200"/>
              <a:gd name="T94" fmla="*/ 199 w 199"/>
              <a:gd name="T95" fmla="*/ 93 h 200"/>
              <a:gd name="T96" fmla="*/ 186 w 199"/>
              <a:gd name="T97" fmla="*/ 80 h 200"/>
              <a:gd name="T98" fmla="*/ 100 w 199"/>
              <a:gd name="T99" fmla="*/ 140 h 200"/>
              <a:gd name="T100" fmla="*/ 60 w 199"/>
              <a:gd name="T101" fmla="*/ 100 h 200"/>
              <a:gd name="T102" fmla="*/ 100 w 199"/>
              <a:gd name="T103" fmla="*/ 60 h 200"/>
              <a:gd name="T104" fmla="*/ 139 w 199"/>
              <a:gd name="T105" fmla="*/ 100 h 200"/>
              <a:gd name="T106" fmla="*/ 100 w 199"/>
              <a:gd name="T107" fmla="*/ 140 h 200"/>
              <a:gd name="T108" fmla="*/ 100 w 199"/>
              <a:gd name="T109" fmla="*/ 80 h 200"/>
              <a:gd name="T110" fmla="*/ 80 w 199"/>
              <a:gd name="T111" fmla="*/ 100 h 200"/>
              <a:gd name="T112" fmla="*/ 100 w 199"/>
              <a:gd name="T113" fmla="*/ 120 h 200"/>
              <a:gd name="T114" fmla="*/ 120 w 199"/>
              <a:gd name="T115" fmla="*/ 100 h 200"/>
              <a:gd name="T116" fmla="*/ 100 w 199"/>
              <a:gd name="T117" fmla="*/ 8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99" h="200">
                <a:moveTo>
                  <a:pt x="186" y="80"/>
                </a:moveTo>
                <a:cubicBezTo>
                  <a:pt x="170" y="80"/>
                  <a:pt x="170" y="80"/>
                  <a:pt x="170" y="80"/>
                </a:cubicBezTo>
                <a:cubicBezTo>
                  <a:pt x="168" y="74"/>
                  <a:pt x="166" y="69"/>
                  <a:pt x="163" y="64"/>
                </a:cubicBezTo>
                <a:cubicBezTo>
                  <a:pt x="175" y="52"/>
                  <a:pt x="175" y="52"/>
                  <a:pt x="175" y="52"/>
                </a:cubicBezTo>
                <a:cubicBezTo>
                  <a:pt x="180" y="47"/>
                  <a:pt x="180" y="38"/>
                  <a:pt x="175" y="33"/>
                </a:cubicBezTo>
                <a:cubicBezTo>
                  <a:pt x="165" y="24"/>
                  <a:pt x="165" y="24"/>
                  <a:pt x="165" y="24"/>
                </a:cubicBezTo>
                <a:cubicBezTo>
                  <a:pt x="160" y="19"/>
                  <a:pt x="152" y="19"/>
                  <a:pt x="146" y="24"/>
                </a:cubicBezTo>
                <a:cubicBezTo>
                  <a:pt x="135" y="36"/>
                  <a:pt x="135" y="36"/>
                  <a:pt x="135" y="36"/>
                </a:cubicBezTo>
                <a:cubicBezTo>
                  <a:pt x="130" y="33"/>
                  <a:pt x="125" y="31"/>
                  <a:pt x="120" y="30"/>
                </a:cubicBezTo>
                <a:cubicBezTo>
                  <a:pt x="120" y="13"/>
                  <a:pt x="120" y="13"/>
                  <a:pt x="120" y="13"/>
                </a:cubicBezTo>
                <a:cubicBezTo>
                  <a:pt x="120" y="6"/>
                  <a:pt x="114" y="0"/>
                  <a:pt x="106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86" y="0"/>
                  <a:pt x="80" y="6"/>
                  <a:pt x="80" y="13"/>
                </a:cubicBezTo>
                <a:cubicBezTo>
                  <a:pt x="80" y="30"/>
                  <a:pt x="80" y="30"/>
                  <a:pt x="80" y="30"/>
                </a:cubicBezTo>
                <a:cubicBezTo>
                  <a:pt x="74" y="31"/>
                  <a:pt x="69" y="33"/>
                  <a:pt x="64" y="36"/>
                </a:cubicBezTo>
                <a:cubicBezTo>
                  <a:pt x="52" y="24"/>
                  <a:pt x="52" y="24"/>
                  <a:pt x="52" y="24"/>
                </a:cubicBezTo>
                <a:cubicBezTo>
                  <a:pt x="47" y="19"/>
                  <a:pt x="38" y="19"/>
                  <a:pt x="33" y="24"/>
                </a:cubicBezTo>
                <a:cubicBezTo>
                  <a:pt x="24" y="33"/>
                  <a:pt x="24" y="33"/>
                  <a:pt x="24" y="33"/>
                </a:cubicBezTo>
                <a:cubicBezTo>
                  <a:pt x="18" y="38"/>
                  <a:pt x="18" y="47"/>
                  <a:pt x="24" y="52"/>
                </a:cubicBezTo>
                <a:cubicBezTo>
                  <a:pt x="36" y="64"/>
                  <a:pt x="36" y="64"/>
                  <a:pt x="36" y="64"/>
                </a:cubicBezTo>
                <a:cubicBezTo>
                  <a:pt x="33" y="69"/>
                  <a:pt x="31" y="74"/>
                  <a:pt x="29" y="80"/>
                </a:cubicBezTo>
                <a:cubicBezTo>
                  <a:pt x="13" y="80"/>
                  <a:pt x="13" y="80"/>
                  <a:pt x="13" y="80"/>
                </a:cubicBezTo>
                <a:cubicBezTo>
                  <a:pt x="6" y="80"/>
                  <a:pt x="0" y="86"/>
                  <a:pt x="0" y="93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4"/>
                  <a:pt x="6" y="120"/>
                  <a:pt x="13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1" y="125"/>
                  <a:pt x="33" y="130"/>
                  <a:pt x="35" y="135"/>
                </a:cubicBezTo>
                <a:cubicBezTo>
                  <a:pt x="24" y="147"/>
                  <a:pt x="24" y="147"/>
                  <a:pt x="24" y="147"/>
                </a:cubicBezTo>
                <a:cubicBezTo>
                  <a:pt x="18" y="152"/>
                  <a:pt x="18" y="160"/>
                  <a:pt x="24" y="166"/>
                </a:cubicBezTo>
                <a:cubicBezTo>
                  <a:pt x="33" y="175"/>
                  <a:pt x="33" y="175"/>
                  <a:pt x="33" y="175"/>
                </a:cubicBezTo>
                <a:cubicBezTo>
                  <a:pt x="38" y="180"/>
                  <a:pt x="47" y="180"/>
                  <a:pt x="52" y="175"/>
                </a:cubicBezTo>
                <a:cubicBezTo>
                  <a:pt x="63" y="163"/>
                  <a:pt x="63" y="163"/>
                  <a:pt x="63" y="163"/>
                </a:cubicBezTo>
                <a:cubicBezTo>
                  <a:pt x="69" y="166"/>
                  <a:pt x="74" y="169"/>
                  <a:pt x="80" y="170"/>
                </a:cubicBezTo>
                <a:cubicBezTo>
                  <a:pt x="80" y="186"/>
                  <a:pt x="80" y="186"/>
                  <a:pt x="80" y="186"/>
                </a:cubicBezTo>
                <a:cubicBezTo>
                  <a:pt x="80" y="194"/>
                  <a:pt x="86" y="200"/>
                  <a:pt x="93" y="200"/>
                </a:cubicBezTo>
                <a:cubicBezTo>
                  <a:pt x="106" y="200"/>
                  <a:pt x="106" y="200"/>
                  <a:pt x="106" y="200"/>
                </a:cubicBezTo>
                <a:cubicBezTo>
                  <a:pt x="114" y="200"/>
                  <a:pt x="120" y="194"/>
                  <a:pt x="120" y="186"/>
                </a:cubicBezTo>
                <a:cubicBezTo>
                  <a:pt x="120" y="170"/>
                  <a:pt x="120" y="170"/>
                  <a:pt x="120" y="170"/>
                </a:cubicBezTo>
                <a:cubicBezTo>
                  <a:pt x="125" y="169"/>
                  <a:pt x="130" y="166"/>
                  <a:pt x="135" y="164"/>
                </a:cubicBezTo>
                <a:cubicBezTo>
                  <a:pt x="146" y="175"/>
                  <a:pt x="146" y="175"/>
                  <a:pt x="146" y="175"/>
                </a:cubicBezTo>
                <a:cubicBezTo>
                  <a:pt x="152" y="180"/>
                  <a:pt x="160" y="180"/>
                  <a:pt x="165" y="175"/>
                </a:cubicBezTo>
                <a:cubicBezTo>
                  <a:pt x="175" y="166"/>
                  <a:pt x="175" y="166"/>
                  <a:pt x="175" y="166"/>
                </a:cubicBezTo>
                <a:cubicBezTo>
                  <a:pt x="180" y="160"/>
                  <a:pt x="180" y="152"/>
                  <a:pt x="175" y="147"/>
                </a:cubicBezTo>
                <a:cubicBezTo>
                  <a:pt x="163" y="135"/>
                  <a:pt x="163" y="135"/>
                  <a:pt x="163" y="135"/>
                </a:cubicBezTo>
                <a:cubicBezTo>
                  <a:pt x="166" y="131"/>
                  <a:pt x="168" y="125"/>
                  <a:pt x="170" y="120"/>
                </a:cubicBezTo>
                <a:cubicBezTo>
                  <a:pt x="186" y="120"/>
                  <a:pt x="186" y="120"/>
                  <a:pt x="186" y="120"/>
                </a:cubicBezTo>
                <a:cubicBezTo>
                  <a:pt x="193" y="120"/>
                  <a:pt x="199" y="114"/>
                  <a:pt x="199" y="107"/>
                </a:cubicBezTo>
                <a:cubicBezTo>
                  <a:pt x="199" y="93"/>
                  <a:pt x="199" y="93"/>
                  <a:pt x="199" y="93"/>
                </a:cubicBezTo>
                <a:cubicBezTo>
                  <a:pt x="199" y="86"/>
                  <a:pt x="193" y="80"/>
                  <a:pt x="186" y="80"/>
                </a:cubicBezTo>
                <a:close/>
                <a:moveTo>
                  <a:pt x="100" y="140"/>
                </a:moveTo>
                <a:cubicBezTo>
                  <a:pt x="78" y="140"/>
                  <a:pt x="60" y="122"/>
                  <a:pt x="60" y="100"/>
                </a:cubicBezTo>
                <a:cubicBezTo>
                  <a:pt x="60" y="78"/>
                  <a:pt x="78" y="60"/>
                  <a:pt x="100" y="60"/>
                </a:cubicBezTo>
                <a:cubicBezTo>
                  <a:pt x="122" y="60"/>
                  <a:pt x="139" y="78"/>
                  <a:pt x="139" y="100"/>
                </a:cubicBezTo>
                <a:cubicBezTo>
                  <a:pt x="139" y="122"/>
                  <a:pt x="122" y="140"/>
                  <a:pt x="100" y="140"/>
                </a:cubicBezTo>
                <a:close/>
                <a:moveTo>
                  <a:pt x="100" y="80"/>
                </a:moveTo>
                <a:cubicBezTo>
                  <a:pt x="89" y="80"/>
                  <a:pt x="80" y="89"/>
                  <a:pt x="80" y="100"/>
                </a:cubicBezTo>
                <a:cubicBezTo>
                  <a:pt x="80" y="111"/>
                  <a:pt x="89" y="120"/>
                  <a:pt x="100" y="120"/>
                </a:cubicBezTo>
                <a:cubicBezTo>
                  <a:pt x="111" y="120"/>
                  <a:pt x="120" y="111"/>
                  <a:pt x="120" y="100"/>
                </a:cubicBezTo>
                <a:cubicBezTo>
                  <a:pt x="120" y="89"/>
                  <a:pt x="111" y="80"/>
                  <a:pt x="100" y="80"/>
                </a:cubicBezTo>
                <a:close/>
              </a:path>
            </a:pathLst>
          </a:custGeom>
          <a:solidFill>
            <a:srgbClr val="E11D4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" name="图形 39" descr="机器人">
            <a:extLst>
              <a:ext uri="{FF2B5EF4-FFF2-40B4-BE49-F238E27FC236}">
                <a16:creationId xmlns:a16="http://schemas.microsoft.com/office/drawing/2014/main" id="{AAF36E63-267C-61CA-4AAF-5C9B02755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3202" y="2259273"/>
            <a:ext cx="504000" cy="424258"/>
          </a:xfrm>
          <a:prstGeom prst="rect">
            <a:avLst/>
          </a:prstGeom>
        </p:spPr>
      </p:pic>
      <p:sp>
        <p:nvSpPr>
          <p:cNvPr id="41" name="AutoShape 4">
            <a:extLst>
              <a:ext uri="{FF2B5EF4-FFF2-40B4-BE49-F238E27FC236}">
                <a16:creationId xmlns:a16="http://schemas.microsoft.com/office/drawing/2014/main" id="{BDE79CE0-8044-F4BC-1676-A464BAA8AF7E}"/>
              </a:ext>
            </a:extLst>
          </p:cNvPr>
          <p:cNvSpPr>
            <a:spLocks/>
          </p:cNvSpPr>
          <p:nvPr/>
        </p:nvSpPr>
        <p:spPr bwMode="auto">
          <a:xfrm>
            <a:off x="2137138" y="3097254"/>
            <a:ext cx="252000" cy="252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7428" y="17466"/>
                </a:moveTo>
                <a:cubicBezTo>
                  <a:pt x="16669" y="16923"/>
                  <a:pt x="15846" y="16465"/>
                  <a:pt x="14963" y="16121"/>
                </a:cubicBezTo>
                <a:cubicBezTo>
                  <a:pt x="15595" y="14609"/>
                  <a:pt x="15967" y="12928"/>
                  <a:pt x="16010" y="11148"/>
                </a:cubicBezTo>
                <a:lnTo>
                  <a:pt x="20188" y="11148"/>
                </a:lnTo>
                <a:cubicBezTo>
                  <a:pt x="20097" y="13612"/>
                  <a:pt x="19065" y="15838"/>
                  <a:pt x="17428" y="17466"/>
                </a:cubicBezTo>
                <a:moveTo>
                  <a:pt x="1411" y="11148"/>
                </a:moveTo>
                <a:lnTo>
                  <a:pt x="5589" y="11148"/>
                </a:lnTo>
                <a:cubicBezTo>
                  <a:pt x="5632" y="12928"/>
                  <a:pt x="6004" y="14609"/>
                  <a:pt x="6636" y="16121"/>
                </a:cubicBezTo>
                <a:cubicBezTo>
                  <a:pt x="5753" y="16465"/>
                  <a:pt x="4931" y="16923"/>
                  <a:pt x="4171" y="17466"/>
                </a:cubicBezTo>
                <a:cubicBezTo>
                  <a:pt x="2534" y="15838"/>
                  <a:pt x="1502" y="13612"/>
                  <a:pt x="1411" y="11148"/>
                </a:cubicBezTo>
                <a:moveTo>
                  <a:pt x="3785" y="4553"/>
                </a:moveTo>
                <a:cubicBezTo>
                  <a:pt x="4579" y="5170"/>
                  <a:pt x="5448" y="5691"/>
                  <a:pt x="6388" y="6084"/>
                </a:cubicBezTo>
                <a:cubicBezTo>
                  <a:pt x="5901" y="7433"/>
                  <a:pt x="5627" y="8908"/>
                  <a:pt x="5589" y="10451"/>
                </a:cubicBezTo>
                <a:lnTo>
                  <a:pt x="1411" y="10451"/>
                </a:lnTo>
                <a:cubicBezTo>
                  <a:pt x="1494" y="8190"/>
                  <a:pt x="2376" y="6135"/>
                  <a:pt x="3785" y="4553"/>
                </a:cubicBezTo>
                <a:moveTo>
                  <a:pt x="11148" y="10451"/>
                </a:moveTo>
                <a:lnTo>
                  <a:pt x="11148" y="6950"/>
                </a:lnTo>
                <a:cubicBezTo>
                  <a:pt x="12339" y="6913"/>
                  <a:pt x="13484" y="6696"/>
                  <a:pt x="14558" y="6324"/>
                </a:cubicBezTo>
                <a:cubicBezTo>
                  <a:pt x="15018" y="7598"/>
                  <a:pt x="15276" y="8992"/>
                  <a:pt x="15314" y="10451"/>
                </a:cubicBezTo>
                <a:cubicBezTo>
                  <a:pt x="15314" y="10451"/>
                  <a:pt x="11148" y="10451"/>
                  <a:pt x="11148" y="10451"/>
                </a:cubicBezTo>
                <a:close/>
                <a:moveTo>
                  <a:pt x="14311" y="15882"/>
                </a:moveTo>
                <a:cubicBezTo>
                  <a:pt x="13309" y="15559"/>
                  <a:pt x="12247" y="15380"/>
                  <a:pt x="11148" y="15346"/>
                </a:cubicBezTo>
                <a:lnTo>
                  <a:pt x="11148" y="11148"/>
                </a:lnTo>
                <a:lnTo>
                  <a:pt x="15314" y="11148"/>
                </a:lnTo>
                <a:cubicBezTo>
                  <a:pt x="15270" y="12844"/>
                  <a:pt x="14914" y="14445"/>
                  <a:pt x="14311" y="15882"/>
                </a:cubicBezTo>
                <a:moveTo>
                  <a:pt x="14683" y="16757"/>
                </a:moveTo>
                <a:cubicBezTo>
                  <a:pt x="15476" y="17063"/>
                  <a:pt x="16218" y="17466"/>
                  <a:pt x="16904" y="17941"/>
                </a:cubicBezTo>
                <a:cubicBezTo>
                  <a:pt x="15632" y="19031"/>
                  <a:pt x="14067" y="19781"/>
                  <a:pt x="12344" y="20068"/>
                </a:cubicBezTo>
                <a:cubicBezTo>
                  <a:pt x="13280" y="19136"/>
                  <a:pt x="14076" y="18017"/>
                  <a:pt x="14683" y="16757"/>
                </a:cubicBezTo>
                <a:moveTo>
                  <a:pt x="11148" y="20188"/>
                </a:moveTo>
                <a:lnTo>
                  <a:pt x="11148" y="16043"/>
                </a:lnTo>
                <a:cubicBezTo>
                  <a:pt x="12146" y="16075"/>
                  <a:pt x="13113" y="16231"/>
                  <a:pt x="14025" y="16516"/>
                </a:cubicBezTo>
                <a:cubicBezTo>
                  <a:pt x="13314" y="17970"/>
                  <a:pt x="12343" y="19223"/>
                  <a:pt x="11185" y="20186"/>
                </a:cubicBezTo>
                <a:cubicBezTo>
                  <a:pt x="11185" y="20186"/>
                  <a:pt x="11148" y="20188"/>
                  <a:pt x="11148" y="20188"/>
                </a:cubicBezTo>
                <a:close/>
                <a:moveTo>
                  <a:pt x="9255" y="20068"/>
                </a:moveTo>
                <a:cubicBezTo>
                  <a:pt x="7532" y="19781"/>
                  <a:pt x="5967" y="19031"/>
                  <a:pt x="4695" y="17941"/>
                </a:cubicBezTo>
                <a:cubicBezTo>
                  <a:pt x="5381" y="17466"/>
                  <a:pt x="6123" y="17063"/>
                  <a:pt x="6916" y="16757"/>
                </a:cubicBezTo>
                <a:cubicBezTo>
                  <a:pt x="7523" y="18017"/>
                  <a:pt x="8319" y="19136"/>
                  <a:pt x="9255" y="20068"/>
                </a:cubicBezTo>
                <a:moveTo>
                  <a:pt x="10451" y="11148"/>
                </a:moveTo>
                <a:lnTo>
                  <a:pt x="10451" y="15346"/>
                </a:lnTo>
                <a:cubicBezTo>
                  <a:pt x="9352" y="15380"/>
                  <a:pt x="8290" y="15559"/>
                  <a:pt x="7288" y="15882"/>
                </a:cubicBezTo>
                <a:cubicBezTo>
                  <a:pt x="6685" y="14445"/>
                  <a:pt x="6329" y="12844"/>
                  <a:pt x="6285" y="11148"/>
                </a:cubicBezTo>
                <a:cubicBezTo>
                  <a:pt x="6285" y="11148"/>
                  <a:pt x="10451" y="11148"/>
                  <a:pt x="10451" y="11148"/>
                </a:cubicBezTo>
                <a:close/>
                <a:moveTo>
                  <a:pt x="7041" y="6324"/>
                </a:moveTo>
                <a:cubicBezTo>
                  <a:pt x="8115" y="6696"/>
                  <a:pt x="9260" y="6913"/>
                  <a:pt x="10451" y="6950"/>
                </a:cubicBezTo>
                <a:lnTo>
                  <a:pt x="10451" y="10451"/>
                </a:lnTo>
                <a:lnTo>
                  <a:pt x="6285" y="10451"/>
                </a:lnTo>
                <a:cubicBezTo>
                  <a:pt x="6324" y="8992"/>
                  <a:pt x="6581" y="7598"/>
                  <a:pt x="7041" y="6324"/>
                </a:cubicBezTo>
                <a:moveTo>
                  <a:pt x="6651" y="5442"/>
                </a:moveTo>
                <a:cubicBezTo>
                  <a:pt x="5790" y="5084"/>
                  <a:pt x="4993" y="4609"/>
                  <a:pt x="4263" y="4050"/>
                </a:cubicBezTo>
                <a:cubicBezTo>
                  <a:pt x="5606" y="2749"/>
                  <a:pt x="7332" y="1851"/>
                  <a:pt x="9255" y="1531"/>
                </a:cubicBezTo>
                <a:cubicBezTo>
                  <a:pt x="8175" y="2610"/>
                  <a:pt x="7286" y="3939"/>
                  <a:pt x="6651" y="5442"/>
                </a:cubicBezTo>
                <a:moveTo>
                  <a:pt x="10451" y="1411"/>
                </a:moveTo>
                <a:lnTo>
                  <a:pt x="10451" y="6253"/>
                </a:lnTo>
                <a:cubicBezTo>
                  <a:pt x="9352" y="6217"/>
                  <a:pt x="8296" y="6021"/>
                  <a:pt x="7303" y="5681"/>
                </a:cubicBezTo>
                <a:cubicBezTo>
                  <a:pt x="8029" y="3972"/>
                  <a:pt x="9101" y="2507"/>
                  <a:pt x="10415" y="1413"/>
                </a:cubicBezTo>
                <a:cubicBezTo>
                  <a:pt x="10427" y="1412"/>
                  <a:pt x="10439" y="1411"/>
                  <a:pt x="10451" y="1411"/>
                </a:cubicBezTo>
                <a:moveTo>
                  <a:pt x="12344" y="1531"/>
                </a:moveTo>
                <a:cubicBezTo>
                  <a:pt x="14267" y="1851"/>
                  <a:pt x="15993" y="2749"/>
                  <a:pt x="17336" y="4050"/>
                </a:cubicBezTo>
                <a:cubicBezTo>
                  <a:pt x="16606" y="4609"/>
                  <a:pt x="15809" y="5084"/>
                  <a:pt x="14948" y="5442"/>
                </a:cubicBezTo>
                <a:cubicBezTo>
                  <a:pt x="14313" y="3939"/>
                  <a:pt x="13424" y="2610"/>
                  <a:pt x="12344" y="1531"/>
                </a:cubicBezTo>
                <a:moveTo>
                  <a:pt x="11184" y="1413"/>
                </a:moveTo>
                <a:cubicBezTo>
                  <a:pt x="12498" y="2507"/>
                  <a:pt x="13570" y="3972"/>
                  <a:pt x="14296" y="5681"/>
                </a:cubicBezTo>
                <a:cubicBezTo>
                  <a:pt x="13303" y="6021"/>
                  <a:pt x="12247" y="6217"/>
                  <a:pt x="11148" y="6253"/>
                </a:cubicBezTo>
                <a:lnTo>
                  <a:pt x="11148" y="1411"/>
                </a:lnTo>
                <a:cubicBezTo>
                  <a:pt x="11160" y="1411"/>
                  <a:pt x="11172" y="1412"/>
                  <a:pt x="11184" y="1413"/>
                </a:cubicBezTo>
                <a:moveTo>
                  <a:pt x="10414" y="20186"/>
                </a:moveTo>
                <a:cubicBezTo>
                  <a:pt x="9256" y="19223"/>
                  <a:pt x="8285" y="17970"/>
                  <a:pt x="7574" y="16516"/>
                </a:cubicBezTo>
                <a:cubicBezTo>
                  <a:pt x="8486" y="16231"/>
                  <a:pt x="9453" y="16075"/>
                  <a:pt x="10451" y="16043"/>
                </a:cubicBezTo>
                <a:lnTo>
                  <a:pt x="10451" y="20188"/>
                </a:lnTo>
                <a:cubicBezTo>
                  <a:pt x="10451" y="20188"/>
                  <a:pt x="10414" y="20186"/>
                  <a:pt x="10414" y="20186"/>
                </a:cubicBezTo>
                <a:close/>
                <a:moveTo>
                  <a:pt x="20188" y="10451"/>
                </a:moveTo>
                <a:lnTo>
                  <a:pt x="16010" y="10451"/>
                </a:lnTo>
                <a:cubicBezTo>
                  <a:pt x="15972" y="8908"/>
                  <a:pt x="15698" y="7433"/>
                  <a:pt x="15211" y="6084"/>
                </a:cubicBezTo>
                <a:cubicBezTo>
                  <a:pt x="16151" y="5691"/>
                  <a:pt x="17020" y="5170"/>
                  <a:pt x="17814" y="4553"/>
                </a:cubicBezTo>
                <a:cubicBezTo>
                  <a:pt x="19223" y="6135"/>
                  <a:pt x="20105" y="8190"/>
                  <a:pt x="20188" y="10451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76C4F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BBD73D9-2BB8-0552-DD02-5D51097502BF}"/>
              </a:ext>
            </a:extLst>
          </p:cNvPr>
          <p:cNvSpPr/>
          <p:nvPr/>
        </p:nvSpPr>
        <p:spPr>
          <a:xfrm>
            <a:off x="462661" y="5795042"/>
            <a:ext cx="6797281" cy="1008000"/>
          </a:xfrm>
          <a:prstGeom prst="roundRect">
            <a:avLst>
              <a:gd name="adj" fmla="val 18250"/>
            </a:avLst>
          </a:prstGeom>
          <a:solidFill>
            <a:srgbClr val="FEF0F3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41AE2C1-4A2C-D9FE-7A67-10E9D9C38435}"/>
              </a:ext>
            </a:extLst>
          </p:cNvPr>
          <p:cNvSpPr/>
          <p:nvPr/>
        </p:nvSpPr>
        <p:spPr>
          <a:xfrm>
            <a:off x="819601" y="5864140"/>
            <a:ext cx="2033337" cy="300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合伙人机制 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联盟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共创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56F88BC-DB56-F5AE-818B-6337F59FCE71}"/>
              </a:ext>
            </a:extLst>
          </p:cNvPr>
          <p:cNvSpPr/>
          <p:nvPr/>
        </p:nvSpPr>
        <p:spPr>
          <a:xfrm>
            <a:off x="792469" y="6180051"/>
            <a:ext cx="720000" cy="3017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战略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FD3022C-5D8D-12A7-B728-DA7C490FA70F}"/>
              </a:ext>
            </a:extLst>
          </p:cNvPr>
          <p:cNvSpPr/>
          <p:nvPr/>
        </p:nvSpPr>
        <p:spPr>
          <a:xfrm>
            <a:off x="1632833" y="6180051"/>
            <a:ext cx="720000" cy="3017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745E520-44BC-01C9-E17A-37A10DC02649}"/>
              </a:ext>
            </a:extLst>
          </p:cNvPr>
          <p:cNvSpPr/>
          <p:nvPr/>
        </p:nvSpPr>
        <p:spPr>
          <a:xfrm>
            <a:off x="2473197" y="6180051"/>
            <a:ext cx="720000" cy="3017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EF265ED-810F-0ACE-3AC8-45F524129B1E}"/>
              </a:ext>
            </a:extLst>
          </p:cNvPr>
          <p:cNvSpPr/>
          <p:nvPr/>
        </p:nvSpPr>
        <p:spPr>
          <a:xfrm>
            <a:off x="3313561" y="6180051"/>
            <a:ext cx="720000" cy="3017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2C86872-0D40-1480-2028-44572C6E1441}"/>
              </a:ext>
            </a:extLst>
          </p:cNvPr>
          <p:cNvSpPr/>
          <p:nvPr/>
        </p:nvSpPr>
        <p:spPr>
          <a:xfrm>
            <a:off x="4153925" y="6180051"/>
            <a:ext cx="1080000" cy="3017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r>
              <a:rPr lang="en-US" altLang="zh-CN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2613D540-2947-1EC5-208E-B4A618F9C1CD}"/>
              </a:ext>
            </a:extLst>
          </p:cNvPr>
          <p:cNvSpPr/>
          <p:nvPr/>
        </p:nvSpPr>
        <p:spPr>
          <a:xfrm>
            <a:off x="5354289" y="6180051"/>
            <a:ext cx="720000" cy="3017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BE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AF2461D-EDA6-0936-497E-075012845BFD}"/>
              </a:ext>
            </a:extLst>
          </p:cNvPr>
          <p:cNvSpPr/>
          <p:nvPr/>
        </p:nvSpPr>
        <p:spPr>
          <a:xfrm>
            <a:off x="6194652" y="6180051"/>
            <a:ext cx="720000" cy="3017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BE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EFCC718-5AFD-0486-1F0E-C4C0965B3722}"/>
              </a:ext>
            </a:extLst>
          </p:cNvPr>
          <p:cNvSpPr/>
          <p:nvPr/>
        </p:nvSpPr>
        <p:spPr>
          <a:xfrm>
            <a:off x="2053560" y="6521869"/>
            <a:ext cx="3600000" cy="300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诚邀各方力量 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一起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做大影响力智能体生态</a:t>
            </a:r>
          </a:p>
        </p:txBody>
      </p:sp>
      <p:sp>
        <p:nvSpPr>
          <p:cNvPr id="42" name="Freeform 28">
            <a:extLst>
              <a:ext uri="{FF2B5EF4-FFF2-40B4-BE49-F238E27FC236}">
                <a16:creationId xmlns:a16="http://schemas.microsoft.com/office/drawing/2014/main" id="{CD555509-D3C4-D35E-5E5E-EDB992EFE4A6}"/>
              </a:ext>
            </a:extLst>
          </p:cNvPr>
          <p:cNvSpPr>
            <a:spLocks noEditPoints="1"/>
          </p:cNvSpPr>
          <p:nvPr/>
        </p:nvSpPr>
        <p:spPr bwMode="auto">
          <a:xfrm>
            <a:off x="609984" y="5901357"/>
            <a:ext cx="324000" cy="216000"/>
          </a:xfrm>
          <a:custGeom>
            <a:avLst/>
            <a:gdLst>
              <a:gd name="T0" fmla="*/ 162 w 290"/>
              <a:gd name="T1" fmla="*/ 169 h 185"/>
              <a:gd name="T2" fmla="*/ 140 w 290"/>
              <a:gd name="T3" fmla="*/ 171 h 185"/>
              <a:gd name="T4" fmla="*/ 157 w 290"/>
              <a:gd name="T5" fmla="*/ 182 h 185"/>
              <a:gd name="T6" fmla="*/ 145 w 290"/>
              <a:gd name="T7" fmla="*/ 158 h 185"/>
              <a:gd name="T8" fmla="*/ 132 w 290"/>
              <a:gd name="T9" fmla="*/ 143 h 185"/>
              <a:gd name="T10" fmla="*/ 117 w 290"/>
              <a:gd name="T11" fmla="*/ 170 h 185"/>
              <a:gd name="T12" fmla="*/ 180 w 290"/>
              <a:gd name="T13" fmla="*/ 170 h 185"/>
              <a:gd name="T14" fmla="*/ 169 w 290"/>
              <a:gd name="T15" fmla="*/ 128 h 185"/>
              <a:gd name="T16" fmla="*/ 190 w 290"/>
              <a:gd name="T17" fmla="*/ 157 h 185"/>
              <a:gd name="T18" fmla="*/ 208 w 290"/>
              <a:gd name="T19" fmla="*/ 148 h 185"/>
              <a:gd name="T20" fmla="*/ 195 w 290"/>
              <a:gd name="T21" fmla="*/ 111 h 185"/>
              <a:gd name="T22" fmla="*/ 225 w 290"/>
              <a:gd name="T23" fmla="*/ 147 h 185"/>
              <a:gd name="T24" fmla="*/ 213 w 290"/>
              <a:gd name="T25" fmla="*/ 104 h 185"/>
              <a:gd name="T26" fmla="*/ 108 w 290"/>
              <a:gd name="T27" fmla="*/ 66 h 185"/>
              <a:gd name="T28" fmla="*/ 94 w 290"/>
              <a:gd name="T29" fmla="*/ 37 h 185"/>
              <a:gd name="T30" fmla="*/ 72 w 290"/>
              <a:gd name="T31" fmla="*/ 32 h 185"/>
              <a:gd name="T32" fmla="*/ 60 w 290"/>
              <a:gd name="T33" fmla="*/ 99 h 185"/>
              <a:gd name="T34" fmla="*/ 89 w 290"/>
              <a:gd name="T35" fmla="*/ 72 h 185"/>
              <a:gd name="T36" fmla="*/ 115 w 290"/>
              <a:gd name="T37" fmla="*/ 85 h 185"/>
              <a:gd name="T38" fmla="*/ 133 w 290"/>
              <a:gd name="T39" fmla="*/ 109 h 185"/>
              <a:gd name="T40" fmla="*/ 142 w 290"/>
              <a:gd name="T41" fmla="*/ 135 h 185"/>
              <a:gd name="T42" fmla="*/ 166 w 290"/>
              <a:gd name="T43" fmla="*/ 166 h 185"/>
              <a:gd name="T44" fmla="*/ 115 w 290"/>
              <a:gd name="T45" fmla="*/ 151 h 185"/>
              <a:gd name="T46" fmla="*/ 138 w 290"/>
              <a:gd name="T47" fmla="*/ 118 h 185"/>
              <a:gd name="T48" fmla="*/ 101 w 290"/>
              <a:gd name="T49" fmla="*/ 137 h 185"/>
              <a:gd name="T50" fmla="*/ 115 w 290"/>
              <a:gd name="T51" fmla="*/ 151 h 185"/>
              <a:gd name="T52" fmla="*/ 126 w 290"/>
              <a:gd name="T53" fmla="*/ 108 h 185"/>
              <a:gd name="T54" fmla="*/ 112 w 290"/>
              <a:gd name="T55" fmla="*/ 93 h 185"/>
              <a:gd name="T56" fmla="*/ 81 w 290"/>
              <a:gd name="T57" fmla="*/ 134 h 185"/>
              <a:gd name="T58" fmla="*/ 67 w 290"/>
              <a:gd name="T59" fmla="*/ 112 h 185"/>
              <a:gd name="T60" fmla="*/ 93 w 290"/>
              <a:gd name="T61" fmla="*/ 76 h 185"/>
              <a:gd name="T62" fmla="*/ 106 w 290"/>
              <a:gd name="T63" fmla="*/ 91 h 185"/>
              <a:gd name="T64" fmla="*/ 67 w 290"/>
              <a:gd name="T65" fmla="*/ 112 h 185"/>
              <a:gd name="T66" fmla="*/ 105 w 290"/>
              <a:gd name="T67" fmla="*/ 60 h 185"/>
              <a:gd name="T68" fmla="*/ 97 w 290"/>
              <a:gd name="T69" fmla="*/ 42 h 185"/>
              <a:gd name="T70" fmla="*/ 162 w 290"/>
              <a:gd name="T71" fmla="*/ 17 h 185"/>
              <a:gd name="T72" fmla="*/ 251 w 290"/>
              <a:gd name="T73" fmla="*/ 75 h 185"/>
              <a:gd name="T74" fmla="*/ 221 w 290"/>
              <a:gd name="T75" fmla="*/ 103 h 185"/>
              <a:gd name="T76" fmla="*/ 228 w 290"/>
              <a:gd name="T77" fmla="*/ 21 h 185"/>
              <a:gd name="T78" fmla="*/ 290 w 290"/>
              <a:gd name="T79" fmla="*/ 60 h 185"/>
              <a:gd name="T80" fmla="*/ 228 w 290"/>
              <a:gd name="T81" fmla="*/ 21 h 185"/>
              <a:gd name="T82" fmla="*/ 39 w 290"/>
              <a:gd name="T83" fmla="*/ 0 h 185"/>
              <a:gd name="T84" fmla="*/ 30 w 290"/>
              <a:gd name="T85" fmla="*/ 76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90" h="185">
                <a:moveTo>
                  <a:pt x="157" y="182"/>
                </a:moveTo>
                <a:cubicBezTo>
                  <a:pt x="162" y="180"/>
                  <a:pt x="164" y="174"/>
                  <a:pt x="162" y="169"/>
                </a:cubicBezTo>
                <a:cubicBezTo>
                  <a:pt x="162" y="169"/>
                  <a:pt x="157" y="159"/>
                  <a:pt x="154" y="154"/>
                </a:cubicBezTo>
                <a:cubicBezTo>
                  <a:pt x="153" y="161"/>
                  <a:pt x="149" y="163"/>
                  <a:pt x="140" y="171"/>
                </a:cubicBezTo>
                <a:cubicBezTo>
                  <a:pt x="144" y="178"/>
                  <a:pt x="144" y="178"/>
                  <a:pt x="144" y="178"/>
                </a:cubicBezTo>
                <a:cubicBezTo>
                  <a:pt x="146" y="181"/>
                  <a:pt x="152" y="185"/>
                  <a:pt x="157" y="182"/>
                </a:cubicBezTo>
                <a:close/>
                <a:moveTo>
                  <a:pt x="131" y="170"/>
                </a:moveTo>
                <a:cubicBezTo>
                  <a:pt x="145" y="158"/>
                  <a:pt x="145" y="158"/>
                  <a:pt x="145" y="158"/>
                </a:cubicBezTo>
                <a:cubicBezTo>
                  <a:pt x="150" y="155"/>
                  <a:pt x="149" y="147"/>
                  <a:pt x="146" y="144"/>
                </a:cubicBezTo>
                <a:cubicBezTo>
                  <a:pt x="142" y="140"/>
                  <a:pt x="136" y="140"/>
                  <a:pt x="132" y="143"/>
                </a:cubicBezTo>
                <a:cubicBezTo>
                  <a:pt x="118" y="155"/>
                  <a:pt x="118" y="155"/>
                  <a:pt x="118" y="155"/>
                </a:cubicBezTo>
                <a:cubicBezTo>
                  <a:pt x="114" y="159"/>
                  <a:pt x="113" y="165"/>
                  <a:pt x="117" y="170"/>
                </a:cubicBezTo>
                <a:cubicBezTo>
                  <a:pt x="120" y="173"/>
                  <a:pt x="127" y="174"/>
                  <a:pt x="131" y="170"/>
                </a:cubicBezTo>
                <a:close/>
                <a:moveTo>
                  <a:pt x="180" y="170"/>
                </a:moveTo>
                <a:cubicBezTo>
                  <a:pt x="185" y="168"/>
                  <a:pt x="187" y="161"/>
                  <a:pt x="184" y="157"/>
                </a:cubicBezTo>
                <a:cubicBezTo>
                  <a:pt x="169" y="128"/>
                  <a:pt x="169" y="128"/>
                  <a:pt x="169" y="128"/>
                </a:cubicBezTo>
                <a:cubicBezTo>
                  <a:pt x="173" y="125"/>
                  <a:pt x="173" y="125"/>
                  <a:pt x="173" y="125"/>
                </a:cubicBezTo>
                <a:cubicBezTo>
                  <a:pt x="190" y="157"/>
                  <a:pt x="190" y="157"/>
                  <a:pt x="190" y="157"/>
                </a:cubicBezTo>
                <a:cubicBezTo>
                  <a:pt x="193" y="162"/>
                  <a:pt x="199" y="164"/>
                  <a:pt x="204" y="162"/>
                </a:cubicBezTo>
                <a:cubicBezTo>
                  <a:pt x="209" y="159"/>
                  <a:pt x="211" y="153"/>
                  <a:pt x="208" y="148"/>
                </a:cubicBezTo>
                <a:cubicBezTo>
                  <a:pt x="190" y="114"/>
                  <a:pt x="190" y="114"/>
                  <a:pt x="190" y="114"/>
                </a:cubicBezTo>
                <a:cubicBezTo>
                  <a:pt x="195" y="111"/>
                  <a:pt x="195" y="111"/>
                  <a:pt x="195" y="111"/>
                </a:cubicBezTo>
                <a:cubicBezTo>
                  <a:pt x="195" y="111"/>
                  <a:pt x="207" y="134"/>
                  <a:pt x="211" y="142"/>
                </a:cubicBezTo>
                <a:cubicBezTo>
                  <a:pt x="214" y="147"/>
                  <a:pt x="220" y="149"/>
                  <a:pt x="225" y="147"/>
                </a:cubicBezTo>
                <a:cubicBezTo>
                  <a:pt x="230" y="144"/>
                  <a:pt x="232" y="138"/>
                  <a:pt x="229" y="133"/>
                </a:cubicBezTo>
                <a:cubicBezTo>
                  <a:pt x="215" y="107"/>
                  <a:pt x="218" y="113"/>
                  <a:pt x="213" y="104"/>
                </a:cubicBezTo>
                <a:cubicBezTo>
                  <a:pt x="197" y="81"/>
                  <a:pt x="173" y="65"/>
                  <a:pt x="149" y="46"/>
                </a:cubicBezTo>
                <a:cubicBezTo>
                  <a:pt x="108" y="66"/>
                  <a:pt x="108" y="66"/>
                  <a:pt x="108" y="66"/>
                </a:cubicBezTo>
                <a:cubicBezTo>
                  <a:pt x="99" y="70"/>
                  <a:pt x="90" y="65"/>
                  <a:pt x="87" y="58"/>
                </a:cubicBezTo>
                <a:cubicBezTo>
                  <a:pt x="83" y="50"/>
                  <a:pt x="86" y="40"/>
                  <a:pt x="94" y="37"/>
                </a:cubicBezTo>
                <a:cubicBezTo>
                  <a:pt x="104" y="32"/>
                  <a:pt x="104" y="32"/>
                  <a:pt x="104" y="32"/>
                </a:cubicBezTo>
                <a:cubicBezTo>
                  <a:pt x="72" y="32"/>
                  <a:pt x="72" y="32"/>
                  <a:pt x="72" y="32"/>
                </a:cubicBezTo>
                <a:cubicBezTo>
                  <a:pt x="38" y="78"/>
                  <a:pt x="38" y="78"/>
                  <a:pt x="38" y="78"/>
                </a:cubicBezTo>
                <a:cubicBezTo>
                  <a:pt x="60" y="99"/>
                  <a:pt x="60" y="99"/>
                  <a:pt x="60" y="99"/>
                </a:cubicBezTo>
                <a:cubicBezTo>
                  <a:pt x="61" y="97"/>
                  <a:pt x="63" y="95"/>
                  <a:pt x="64" y="93"/>
                </a:cubicBezTo>
                <a:cubicBezTo>
                  <a:pt x="89" y="72"/>
                  <a:pt x="89" y="72"/>
                  <a:pt x="89" y="72"/>
                </a:cubicBezTo>
                <a:cubicBezTo>
                  <a:pt x="96" y="66"/>
                  <a:pt x="106" y="67"/>
                  <a:pt x="111" y="73"/>
                </a:cubicBezTo>
                <a:cubicBezTo>
                  <a:pt x="115" y="77"/>
                  <a:pt x="116" y="81"/>
                  <a:pt x="115" y="85"/>
                </a:cubicBezTo>
                <a:cubicBezTo>
                  <a:pt x="121" y="84"/>
                  <a:pt x="127" y="86"/>
                  <a:pt x="131" y="90"/>
                </a:cubicBezTo>
                <a:cubicBezTo>
                  <a:pt x="136" y="95"/>
                  <a:pt x="136" y="103"/>
                  <a:pt x="133" y="109"/>
                </a:cubicBezTo>
                <a:cubicBezTo>
                  <a:pt x="136" y="109"/>
                  <a:pt x="140" y="111"/>
                  <a:pt x="142" y="114"/>
                </a:cubicBezTo>
                <a:cubicBezTo>
                  <a:pt x="148" y="120"/>
                  <a:pt x="147" y="130"/>
                  <a:pt x="142" y="135"/>
                </a:cubicBezTo>
                <a:cubicBezTo>
                  <a:pt x="146" y="135"/>
                  <a:pt x="150" y="137"/>
                  <a:pt x="152" y="140"/>
                </a:cubicBezTo>
                <a:cubicBezTo>
                  <a:pt x="152" y="140"/>
                  <a:pt x="163" y="159"/>
                  <a:pt x="166" y="166"/>
                </a:cubicBezTo>
                <a:cubicBezTo>
                  <a:pt x="168" y="170"/>
                  <a:pt x="175" y="173"/>
                  <a:pt x="180" y="170"/>
                </a:cubicBezTo>
                <a:close/>
                <a:moveTo>
                  <a:pt x="115" y="151"/>
                </a:moveTo>
                <a:cubicBezTo>
                  <a:pt x="137" y="132"/>
                  <a:pt x="137" y="132"/>
                  <a:pt x="137" y="132"/>
                </a:cubicBezTo>
                <a:cubicBezTo>
                  <a:pt x="141" y="129"/>
                  <a:pt x="142" y="122"/>
                  <a:pt x="138" y="118"/>
                </a:cubicBezTo>
                <a:cubicBezTo>
                  <a:pt x="134" y="114"/>
                  <a:pt x="128" y="113"/>
                  <a:pt x="123" y="117"/>
                </a:cubicBezTo>
                <a:cubicBezTo>
                  <a:pt x="123" y="117"/>
                  <a:pt x="101" y="136"/>
                  <a:pt x="101" y="137"/>
                </a:cubicBezTo>
                <a:cubicBezTo>
                  <a:pt x="97" y="141"/>
                  <a:pt x="97" y="146"/>
                  <a:pt x="101" y="150"/>
                </a:cubicBezTo>
                <a:cubicBezTo>
                  <a:pt x="104" y="154"/>
                  <a:pt x="110" y="155"/>
                  <a:pt x="115" y="151"/>
                </a:cubicBezTo>
                <a:close/>
                <a:moveTo>
                  <a:pt x="95" y="134"/>
                </a:moveTo>
                <a:cubicBezTo>
                  <a:pt x="126" y="108"/>
                  <a:pt x="126" y="108"/>
                  <a:pt x="126" y="108"/>
                </a:cubicBezTo>
                <a:cubicBezTo>
                  <a:pt x="130" y="105"/>
                  <a:pt x="130" y="98"/>
                  <a:pt x="126" y="94"/>
                </a:cubicBezTo>
                <a:cubicBezTo>
                  <a:pt x="123" y="90"/>
                  <a:pt x="117" y="89"/>
                  <a:pt x="112" y="93"/>
                </a:cubicBezTo>
                <a:cubicBezTo>
                  <a:pt x="85" y="117"/>
                  <a:pt x="85" y="117"/>
                  <a:pt x="85" y="117"/>
                </a:cubicBezTo>
                <a:cubicBezTo>
                  <a:pt x="78" y="121"/>
                  <a:pt x="77" y="129"/>
                  <a:pt x="81" y="134"/>
                </a:cubicBezTo>
                <a:cubicBezTo>
                  <a:pt x="84" y="137"/>
                  <a:pt x="91" y="138"/>
                  <a:pt x="95" y="134"/>
                </a:cubicBezTo>
                <a:close/>
                <a:moveTo>
                  <a:pt x="67" y="112"/>
                </a:moveTo>
                <a:cubicBezTo>
                  <a:pt x="63" y="108"/>
                  <a:pt x="64" y="101"/>
                  <a:pt x="68" y="98"/>
                </a:cubicBezTo>
                <a:cubicBezTo>
                  <a:pt x="93" y="76"/>
                  <a:pt x="93" y="76"/>
                  <a:pt x="93" y="76"/>
                </a:cubicBezTo>
                <a:cubicBezTo>
                  <a:pt x="97" y="72"/>
                  <a:pt x="103" y="73"/>
                  <a:pt x="107" y="77"/>
                </a:cubicBezTo>
                <a:cubicBezTo>
                  <a:pt x="111" y="82"/>
                  <a:pt x="111" y="88"/>
                  <a:pt x="106" y="91"/>
                </a:cubicBezTo>
                <a:cubicBezTo>
                  <a:pt x="81" y="113"/>
                  <a:pt x="81" y="113"/>
                  <a:pt x="81" y="113"/>
                </a:cubicBezTo>
                <a:cubicBezTo>
                  <a:pt x="78" y="116"/>
                  <a:pt x="71" y="116"/>
                  <a:pt x="67" y="112"/>
                </a:cubicBezTo>
                <a:close/>
                <a:moveTo>
                  <a:pt x="150" y="39"/>
                </a:moveTo>
                <a:cubicBezTo>
                  <a:pt x="105" y="60"/>
                  <a:pt x="105" y="60"/>
                  <a:pt x="105" y="60"/>
                </a:cubicBezTo>
                <a:cubicBezTo>
                  <a:pt x="100" y="63"/>
                  <a:pt x="94" y="60"/>
                  <a:pt x="92" y="55"/>
                </a:cubicBezTo>
                <a:cubicBezTo>
                  <a:pt x="89" y="50"/>
                  <a:pt x="92" y="44"/>
                  <a:pt x="97" y="42"/>
                </a:cubicBezTo>
                <a:cubicBezTo>
                  <a:pt x="142" y="21"/>
                  <a:pt x="142" y="21"/>
                  <a:pt x="142" y="21"/>
                </a:cubicBezTo>
                <a:cubicBezTo>
                  <a:pt x="148" y="19"/>
                  <a:pt x="154" y="17"/>
                  <a:pt x="162" y="17"/>
                </a:cubicBezTo>
                <a:cubicBezTo>
                  <a:pt x="178" y="17"/>
                  <a:pt x="210" y="26"/>
                  <a:pt x="224" y="30"/>
                </a:cubicBezTo>
                <a:cubicBezTo>
                  <a:pt x="251" y="75"/>
                  <a:pt x="251" y="75"/>
                  <a:pt x="251" y="75"/>
                </a:cubicBezTo>
                <a:cubicBezTo>
                  <a:pt x="236" y="85"/>
                  <a:pt x="236" y="85"/>
                  <a:pt x="236" y="85"/>
                </a:cubicBezTo>
                <a:cubicBezTo>
                  <a:pt x="232" y="88"/>
                  <a:pt x="229" y="98"/>
                  <a:pt x="221" y="103"/>
                </a:cubicBezTo>
                <a:cubicBezTo>
                  <a:pt x="205" y="81"/>
                  <a:pt x="176" y="58"/>
                  <a:pt x="150" y="39"/>
                </a:cubicBezTo>
                <a:close/>
                <a:moveTo>
                  <a:pt x="228" y="21"/>
                </a:moveTo>
                <a:cubicBezTo>
                  <a:pt x="256" y="4"/>
                  <a:pt x="256" y="4"/>
                  <a:pt x="256" y="4"/>
                </a:cubicBezTo>
                <a:cubicBezTo>
                  <a:pt x="290" y="60"/>
                  <a:pt x="290" y="60"/>
                  <a:pt x="290" y="60"/>
                </a:cubicBezTo>
                <a:cubicBezTo>
                  <a:pt x="261" y="76"/>
                  <a:pt x="261" y="76"/>
                  <a:pt x="261" y="76"/>
                </a:cubicBezTo>
                <a:lnTo>
                  <a:pt x="228" y="21"/>
                </a:lnTo>
                <a:close/>
                <a:moveTo>
                  <a:pt x="0" y="56"/>
                </a:moveTo>
                <a:cubicBezTo>
                  <a:pt x="39" y="0"/>
                  <a:pt x="39" y="0"/>
                  <a:pt x="39" y="0"/>
                </a:cubicBezTo>
                <a:cubicBezTo>
                  <a:pt x="68" y="23"/>
                  <a:pt x="68" y="23"/>
                  <a:pt x="68" y="23"/>
                </a:cubicBezTo>
                <a:cubicBezTo>
                  <a:pt x="30" y="76"/>
                  <a:pt x="30" y="76"/>
                  <a:pt x="30" y="76"/>
                </a:cubicBezTo>
                <a:lnTo>
                  <a:pt x="0" y="56"/>
                </a:lnTo>
                <a:close/>
              </a:path>
            </a:pathLst>
          </a:custGeom>
          <a:solidFill>
            <a:srgbClr val="E11D4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7" name="图形 46" descr="上升趋势">
            <a:extLst>
              <a:ext uri="{FF2B5EF4-FFF2-40B4-BE49-F238E27FC236}">
                <a16:creationId xmlns:a16="http://schemas.microsoft.com/office/drawing/2014/main" id="{D003496E-7CF1-8F2D-AFD7-C883E725EB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6616" y="1078534"/>
            <a:ext cx="360000" cy="360000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2A4FF913-6829-A97F-C77F-1C49E87A4DCB}"/>
              </a:ext>
            </a:extLst>
          </p:cNvPr>
          <p:cNvSpPr/>
          <p:nvPr/>
        </p:nvSpPr>
        <p:spPr>
          <a:xfrm>
            <a:off x="8526712" y="953991"/>
            <a:ext cx="3407989" cy="5761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盈利全景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可持续增长飞轮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98B48A2-C40B-ECCE-989E-6B6B5A712E06}"/>
              </a:ext>
            </a:extLst>
          </p:cNvPr>
          <p:cNvGrpSpPr/>
          <p:nvPr/>
        </p:nvGrpSpPr>
        <p:grpSpPr>
          <a:xfrm>
            <a:off x="7991314" y="3942406"/>
            <a:ext cx="3780000" cy="1260000"/>
            <a:chOff x="7991314" y="4096372"/>
            <a:chExt cx="3780000" cy="1260000"/>
          </a:xfrm>
        </p:grpSpPr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7DB40B5F-0229-EE57-6834-E2594FBFE8B5}"/>
                </a:ext>
              </a:extLst>
            </p:cNvPr>
            <p:cNvSpPr/>
            <p:nvPr/>
          </p:nvSpPr>
          <p:spPr>
            <a:xfrm>
              <a:off x="7991314" y="4096372"/>
              <a:ext cx="3780000" cy="1260000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未来增长 </a:t>
              </a:r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高价值曲线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20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BusinessAI</a:t>
              </a:r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 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行业解决方案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垂直场景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流程重构 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项目分成与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SaaS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订阅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AiLean 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精益服务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企业精益咨询 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 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自动化精益工具订阅 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精益增长平台</a:t>
              </a:r>
            </a:p>
          </p:txBody>
        </p:sp>
        <p:pic>
          <p:nvPicPr>
            <p:cNvPr id="56" name="图形 55" descr="火箭">
              <a:extLst>
                <a:ext uri="{FF2B5EF4-FFF2-40B4-BE49-F238E27FC236}">
                  <a16:creationId xmlns:a16="http://schemas.microsoft.com/office/drawing/2014/main" id="{06E28D49-235A-351C-D28E-34EE538CE8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024536" y="4137363"/>
              <a:ext cx="288000" cy="288000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24BC540-1703-EDFF-B389-577C77896B4C}"/>
              </a:ext>
            </a:extLst>
          </p:cNvPr>
          <p:cNvGrpSpPr/>
          <p:nvPr/>
        </p:nvGrpSpPr>
        <p:grpSpPr>
          <a:xfrm>
            <a:off x="7991314" y="2952573"/>
            <a:ext cx="3780000" cy="828000"/>
            <a:chOff x="7991314" y="3065556"/>
            <a:chExt cx="3780000" cy="828000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7E3CB407-EA6F-34B0-AE43-FF1953622CAF}"/>
                </a:ext>
              </a:extLst>
            </p:cNvPr>
            <p:cNvSpPr/>
            <p:nvPr/>
          </p:nvSpPr>
          <p:spPr>
            <a:xfrm>
              <a:off x="7991314" y="3065556"/>
              <a:ext cx="3780000" cy="828000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即将上线 </a:t>
              </a:r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新引擎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Influence Claw 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订阅收入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平台充值积分制 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按需调用智能体能力 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流量增值服务</a:t>
              </a:r>
            </a:p>
          </p:txBody>
        </p:sp>
        <p:pic>
          <p:nvPicPr>
            <p:cNvPr id="58" name="图形 57" descr="沙漏">
              <a:extLst>
                <a:ext uri="{FF2B5EF4-FFF2-40B4-BE49-F238E27FC236}">
                  <a16:creationId xmlns:a16="http://schemas.microsoft.com/office/drawing/2014/main" id="{D3F352F0-814E-64BA-124B-90EB55BF1D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24536" y="3114304"/>
              <a:ext cx="288000" cy="288000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612AD86-4115-FBF0-B88C-AEA341B74FC6}"/>
              </a:ext>
            </a:extLst>
          </p:cNvPr>
          <p:cNvGrpSpPr/>
          <p:nvPr/>
        </p:nvGrpSpPr>
        <p:grpSpPr>
          <a:xfrm>
            <a:off x="7991314" y="1530740"/>
            <a:ext cx="3780000" cy="1260000"/>
            <a:chOff x="7991314" y="1530740"/>
            <a:chExt cx="3780000" cy="1260000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B282A114-1158-43D1-5860-C3660322A446}"/>
                </a:ext>
              </a:extLst>
            </p:cNvPr>
            <p:cNvSpPr/>
            <p:nvPr/>
          </p:nvSpPr>
          <p:spPr>
            <a:xfrm>
              <a:off x="7991314" y="1530740"/>
              <a:ext cx="3780000" cy="1260000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当前收入 </a:t>
              </a:r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稳健基本盘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智能体</a:t>
              </a:r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4.0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在线网课 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线下大课 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私董会 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企业内训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智能体订阅收入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2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Dify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企业工作流 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en-US" altLang="zh-CN" sz="12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Coze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智能体 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小程序矩阵订阅</a:t>
              </a:r>
            </a:p>
          </p:txBody>
        </p:sp>
        <p:sp>
          <p:nvSpPr>
            <p:cNvPr id="61" name="Freeform 63">
              <a:extLst>
                <a:ext uri="{FF2B5EF4-FFF2-40B4-BE49-F238E27FC236}">
                  <a16:creationId xmlns:a16="http://schemas.microsoft.com/office/drawing/2014/main" id="{EFD1F302-8E9F-0ED1-87C6-7CF92180432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060536" y="1608102"/>
              <a:ext cx="216000" cy="245337"/>
            </a:xfrm>
            <a:custGeom>
              <a:avLst/>
              <a:gdLst>
                <a:gd name="T0" fmla="*/ 319 w 352"/>
                <a:gd name="T1" fmla="*/ 209 h 400"/>
                <a:gd name="T2" fmla="*/ 238 w 352"/>
                <a:gd name="T3" fmla="*/ 134 h 400"/>
                <a:gd name="T4" fmla="*/ 251 w 352"/>
                <a:gd name="T5" fmla="*/ 134 h 400"/>
                <a:gd name="T6" fmla="*/ 313 w 352"/>
                <a:gd name="T7" fmla="*/ 114 h 400"/>
                <a:gd name="T8" fmla="*/ 283 w 352"/>
                <a:gd name="T9" fmla="*/ 96 h 400"/>
                <a:gd name="T10" fmla="*/ 292 w 352"/>
                <a:gd name="T11" fmla="*/ 82 h 400"/>
                <a:gd name="T12" fmla="*/ 289 w 352"/>
                <a:gd name="T13" fmla="*/ 75 h 400"/>
                <a:gd name="T14" fmla="*/ 237 w 352"/>
                <a:gd name="T15" fmla="*/ 97 h 400"/>
                <a:gd name="T16" fmla="*/ 231 w 352"/>
                <a:gd name="T17" fmla="*/ 16 h 400"/>
                <a:gd name="T18" fmla="*/ 142 w 352"/>
                <a:gd name="T19" fmla="*/ 17 h 400"/>
                <a:gd name="T20" fmla="*/ 136 w 352"/>
                <a:gd name="T21" fmla="*/ 108 h 400"/>
                <a:gd name="T22" fmla="*/ 121 w 352"/>
                <a:gd name="T23" fmla="*/ 112 h 400"/>
                <a:gd name="T24" fmla="*/ 111 w 352"/>
                <a:gd name="T25" fmla="*/ 119 h 400"/>
                <a:gd name="T26" fmla="*/ 127 w 352"/>
                <a:gd name="T27" fmla="*/ 130 h 400"/>
                <a:gd name="T28" fmla="*/ 34 w 352"/>
                <a:gd name="T29" fmla="*/ 214 h 400"/>
                <a:gd name="T30" fmla="*/ 149 w 352"/>
                <a:gd name="T31" fmla="*/ 391 h 400"/>
                <a:gd name="T32" fmla="*/ 343 w 352"/>
                <a:gd name="T33" fmla="*/ 268 h 400"/>
                <a:gd name="T34" fmla="*/ 303 w 352"/>
                <a:gd name="T35" fmla="*/ 109 h 400"/>
                <a:gd name="T36" fmla="*/ 251 w 352"/>
                <a:gd name="T37" fmla="*/ 123 h 400"/>
                <a:gd name="T38" fmla="*/ 243 w 352"/>
                <a:gd name="T39" fmla="*/ 122 h 400"/>
                <a:gd name="T40" fmla="*/ 280 w 352"/>
                <a:gd name="T41" fmla="*/ 85 h 400"/>
                <a:gd name="T42" fmla="*/ 239 w 352"/>
                <a:gd name="T43" fmla="*/ 111 h 400"/>
                <a:gd name="T44" fmla="*/ 280 w 352"/>
                <a:gd name="T45" fmla="*/ 85 h 400"/>
                <a:gd name="T46" fmla="*/ 218 w 352"/>
                <a:gd name="T47" fmla="*/ 315 h 400"/>
                <a:gd name="T48" fmla="*/ 183 w 352"/>
                <a:gd name="T49" fmla="*/ 326 h 400"/>
                <a:gd name="T50" fmla="*/ 169 w 352"/>
                <a:gd name="T51" fmla="*/ 344 h 400"/>
                <a:gd name="T52" fmla="*/ 147 w 352"/>
                <a:gd name="T53" fmla="*/ 322 h 400"/>
                <a:gd name="T54" fmla="*/ 122 w 352"/>
                <a:gd name="T55" fmla="*/ 300 h 400"/>
                <a:gd name="T56" fmla="*/ 155 w 352"/>
                <a:gd name="T57" fmla="*/ 280 h 400"/>
                <a:gd name="T58" fmla="*/ 169 w 352"/>
                <a:gd name="T59" fmla="*/ 301 h 400"/>
                <a:gd name="T60" fmla="*/ 142 w 352"/>
                <a:gd name="T61" fmla="*/ 258 h 400"/>
                <a:gd name="T62" fmla="*/ 122 w 352"/>
                <a:gd name="T63" fmla="*/ 225 h 400"/>
                <a:gd name="T64" fmla="*/ 169 w 352"/>
                <a:gd name="T65" fmla="*/ 184 h 400"/>
                <a:gd name="T66" fmla="*/ 183 w 352"/>
                <a:gd name="T67" fmla="*/ 175 h 400"/>
                <a:gd name="T68" fmla="*/ 215 w 352"/>
                <a:gd name="T69" fmla="*/ 194 h 400"/>
                <a:gd name="T70" fmla="*/ 195 w 352"/>
                <a:gd name="T71" fmla="*/ 223 h 400"/>
                <a:gd name="T72" fmla="*/ 183 w 352"/>
                <a:gd name="T73" fmla="*/ 209 h 400"/>
                <a:gd name="T74" fmla="*/ 221 w 352"/>
                <a:gd name="T75" fmla="*/ 252 h 400"/>
                <a:gd name="T76" fmla="*/ 230 w 352"/>
                <a:gd name="T77" fmla="*/ 301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52" h="400">
                  <a:moveTo>
                    <a:pt x="343" y="268"/>
                  </a:moveTo>
                  <a:cubicBezTo>
                    <a:pt x="339" y="245"/>
                    <a:pt x="331" y="231"/>
                    <a:pt x="319" y="209"/>
                  </a:cubicBezTo>
                  <a:cubicBezTo>
                    <a:pt x="308" y="192"/>
                    <a:pt x="288" y="172"/>
                    <a:pt x="273" y="160"/>
                  </a:cubicBezTo>
                  <a:cubicBezTo>
                    <a:pt x="262" y="151"/>
                    <a:pt x="249" y="143"/>
                    <a:pt x="238" y="134"/>
                  </a:cubicBezTo>
                  <a:cubicBezTo>
                    <a:pt x="241" y="134"/>
                    <a:pt x="241" y="134"/>
                    <a:pt x="241" y="134"/>
                  </a:cubicBezTo>
                  <a:cubicBezTo>
                    <a:pt x="251" y="134"/>
                    <a:pt x="251" y="134"/>
                    <a:pt x="251" y="134"/>
                  </a:cubicBezTo>
                  <a:cubicBezTo>
                    <a:pt x="258" y="134"/>
                    <a:pt x="266" y="134"/>
                    <a:pt x="274" y="133"/>
                  </a:cubicBezTo>
                  <a:cubicBezTo>
                    <a:pt x="283" y="132"/>
                    <a:pt x="306" y="128"/>
                    <a:pt x="313" y="114"/>
                  </a:cubicBezTo>
                  <a:cubicBezTo>
                    <a:pt x="318" y="104"/>
                    <a:pt x="314" y="99"/>
                    <a:pt x="311" y="97"/>
                  </a:cubicBezTo>
                  <a:cubicBezTo>
                    <a:pt x="306" y="93"/>
                    <a:pt x="295" y="94"/>
                    <a:pt x="283" y="96"/>
                  </a:cubicBezTo>
                  <a:cubicBezTo>
                    <a:pt x="288" y="92"/>
                    <a:pt x="291" y="88"/>
                    <a:pt x="292" y="84"/>
                  </a:cubicBezTo>
                  <a:cubicBezTo>
                    <a:pt x="292" y="84"/>
                    <a:pt x="292" y="83"/>
                    <a:pt x="292" y="82"/>
                  </a:cubicBezTo>
                  <a:cubicBezTo>
                    <a:pt x="292" y="80"/>
                    <a:pt x="292" y="78"/>
                    <a:pt x="290" y="76"/>
                  </a:cubicBezTo>
                  <a:cubicBezTo>
                    <a:pt x="289" y="75"/>
                    <a:pt x="289" y="75"/>
                    <a:pt x="289" y="75"/>
                  </a:cubicBezTo>
                  <a:cubicBezTo>
                    <a:pt x="287" y="74"/>
                    <a:pt x="287" y="74"/>
                    <a:pt x="287" y="74"/>
                  </a:cubicBezTo>
                  <a:cubicBezTo>
                    <a:pt x="272" y="72"/>
                    <a:pt x="251" y="83"/>
                    <a:pt x="237" y="97"/>
                  </a:cubicBezTo>
                  <a:cubicBezTo>
                    <a:pt x="252" y="77"/>
                    <a:pt x="280" y="51"/>
                    <a:pt x="285" y="30"/>
                  </a:cubicBezTo>
                  <a:cubicBezTo>
                    <a:pt x="266" y="29"/>
                    <a:pt x="247" y="25"/>
                    <a:pt x="231" y="16"/>
                  </a:cubicBezTo>
                  <a:cubicBezTo>
                    <a:pt x="216" y="8"/>
                    <a:pt x="209" y="0"/>
                    <a:pt x="191" y="3"/>
                  </a:cubicBezTo>
                  <a:cubicBezTo>
                    <a:pt x="174" y="5"/>
                    <a:pt x="158" y="13"/>
                    <a:pt x="142" y="17"/>
                  </a:cubicBezTo>
                  <a:cubicBezTo>
                    <a:pt x="124" y="22"/>
                    <a:pt x="108" y="15"/>
                    <a:pt x="90" y="18"/>
                  </a:cubicBezTo>
                  <a:cubicBezTo>
                    <a:pt x="87" y="49"/>
                    <a:pt x="125" y="79"/>
                    <a:pt x="136" y="108"/>
                  </a:cubicBezTo>
                  <a:cubicBezTo>
                    <a:pt x="131" y="109"/>
                    <a:pt x="126" y="110"/>
                    <a:pt x="121" y="112"/>
                  </a:cubicBezTo>
                  <a:cubicBezTo>
                    <a:pt x="121" y="112"/>
                    <a:pt x="121" y="112"/>
                    <a:pt x="121" y="112"/>
                  </a:cubicBezTo>
                  <a:cubicBezTo>
                    <a:pt x="118" y="113"/>
                    <a:pt x="115" y="114"/>
                    <a:pt x="114" y="116"/>
                  </a:cubicBezTo>
                  <a:cubicBezTo>
                    <a:pt x="111" y="119"/>
                    <a:pt x="111" y="119"/>
                    <a:pt x="111" y="119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16" y="127"/>
                    <a:pt x="120" y="129"/>
                    <a:pt x="127" y="130"/>
                  </a:cubicBezTo>
                  <a:cubicBezTo>
                    <a:pt x="113" y="139"/>
                    <a:pt x="96" y="149"/>
                    <a:pt x="84" y="159"/>
                  </a:cubicBezTo>
                  <a:cubicBezTo>
                    <a:pt x="69" y="172"/>
                    <a:pt x="46" y="198"/>
                    <a:pt x="34" y="214"/>
                  </a:cubicBezTo>
                  <a:cubicBezTo>
                    <a:pt x="13" y="240"/>
                    <a:pt x="0" y="275"/>
                    <a:pt x="6" y="307"/>
                  </a:cubicBezTo>
                  <a:cubicBezTo>
                    <a:pt x="18" y="370"/>
                    <a:pt x="92" y="391"/>
                    <a:pt x="149" y="391"/>
                  </a:cubicBezTo>
                  <a:cubicBezTo>
                    <a:pt x="212" y="391"/>
                    <a:pt x="293" y="400"/>
                    <a:pt x="335" y="348"/>
                  </a:cubicBezTo>
                  <a:cubicBezTo>
                    <a:pt x="352" y="327"/>
                    <a:pt x="347" y="295"/>
                    <a:pt x="343" y="268"/>
                  </a:cubicBezTo>
                  <a:close/>
                  <a:moveTo>
                    <a:pt x="305" y="105"/>
                  </a:moveTo>
                  <a:cubicBezTo>
                    <a:pt x="305" y="105"/>
                    <a:pt x="305" y="106"/>
                    <a:pt x="303" y="109"/>
                  </a:cubicBezTo>
                  <a:cubicBezTo>
                    <a:pt x="299" y="117"/>
                    <a:pt x="284" y="121"/>
                    <a:pt x="273" y="123"/>
                  </a:cubicBezTo>
                  <a:cubicBezTo>
                    <a:pt x="266" y="124"/>
                    <a:pt x="258" y="124"/>
                    <a:pt x="251" y="123"/>
                  </a:cubicBezTo>
                  <a:cubicBezTo>
                    <a:pt x="243" y="123"/>
                    <a:pt x="243" y="123"/>
                    <a:pt x="243" y="123"/>
                  </a:cubicBezTo>
                  <a:cubicBezTo>
                    <a:pt x="243" y="122"/>
                    <a:pt x="243" y="122"/>
                    <a:pt x="243" y="122"/>
                  </a:cubicBezTo>
                  <a:cubicBezTo>
                    <a:pt x="263" y="112"/>
                    <a:pt x="300" y="101"/>
                    <a:pt x="305" y="105"/>
                  </a:cubicBezTo>
                  <a:close/>
                  <a:moveTo>
                    <a:pt x="280" y="85"/>
                  </a:moveTo>
                  <a:cubicBezTo>
                    <a:pt x="275" y="90"/>
                    <a:pt x="260" y="99"/>
                    <a:pt x="251" y="104"/>
                  </a:cubicBezTo>
                  <a:cubicBezTo>
                    <a:pt x="247" y="106"/>
                    <a:pt x="243" y="108"/>
                    <a:pt x="239" y="111"/>
                  </a:cubicBezTo>
                  <a:cubicBezTo>
                    <a:pt x="239" y="111"/>
                    <a:pt x="239" y="111"/>
                    <a:pt x="239" y="111"/>
                  </a:cubicBezTo>
                  <a:cubicBezTo>
                    <a:pt x="249" y="98"/>
                    <a:pt x="267" y="86"/>
                    <a:pt x="280" y="85"/>
                  </a:cubicBezTo>
                  <a:close/>
                  <a:moveTo>
                    <a:pt x="230" y="301"/>
                  </a:moveTo>
                  <a:cubicBezTo>
                    <a:pt x="227" y="306"/>
                    <a:pt x="223" y="311"/>
                    <a:pt x="218" y="315"/>
                  </a:cubicBezTo>
                  <a:cubicBezTo>
                    <a:pt x="213" y="319"/>
                    <a:pt x="208" y="322"/>
                    <a:pt x="203" y="323"/>
                  </a:cubicBezTo>
                  <a:cubicBezTo>
                    <a:pt x="197" y="325"/>
                    <a:pt x="191" y="326"/>
                    <a:pt x="183" y="326"/>
                  </a:cubicBezTo>
                  <a:cubicBezTo>
                    <a:pt x="183" y="344"/>
                    <a:pt x="183" y="344"/>
                    <a:pt x="183" y="344"/>
                  </a:cubicBezTo>
                  <a:cubicBezTo>
                    <a:pt x="169" y="344"/>
                    <a:pt x="169" y="344"/>
                    <a:pt x="169" y="344"/>
                  </a:cubicBezTo>
                  <a:cubicBezTo>
                    <a:pt x="169" y="326"/>
                    <a:pt x="169" y="326"/>
                    <a:pt x="169" y="326"/>
                  </a:cubicBezTo>
                  <a:cubicBezTo>
                    <a:pt x="160" y="326"/>
                    <a:pt x="152" y="324"/>
                    <a:pt x="147" y="322"/>
                  </a:cubicBezTo>
                  <a:cubicBezTo>
                    <a:pt x="141" y="320"/>
                    <a:pt x="136" y="317"/>
                    <a:pt x="132" y="313"/>
                  </a:cubicBezTo>
                  <a:cubicBezTo>
                    <a:pt x="127" y="309"/>
                    <a:pt x="124" y="305"/>
                    <a:pt x="122" y="300"/>
                  </a:cubicBezTo>
                  <a:cubicBezTo>
                    <a:pt x="120" y="296"/>
                    <a:pt x="118" y="291"/>
                    <a:pt x="117" y="284"/>
                  </a:cubicBezTo>
                  <a:cubicBezTo>
                    <a:pt x="155" y="280"/>
                    <a:pt x="155" y="280"/>
                    <a:pt x="155" y="280"/>
                  </a:cubicBezTo>
                  <a:cubicBezTo>
                    <a:pt x="156" y="286"/>
                    <a:pt x="158" y="291"/>
                    <a:pt x="160" y="293"/>
                  </a:cubicBezTo>
                  <a:cubicBezTo>
                    <a:pt x="162" y="296"/>
                    <a:pt x="165" y="299"/>
                    <a:pt x="169" y="301"/>
                  </a:cubicBezTo>
                  <a:cubicBezTo>
                    <a:pt x="169" y="267"/>
                    <a:pt x="169" y="267"/>
                    <a:pt x="169" y="267"/>
                  </a:cubicBezTo>
                  <a:cubicBezTo>
                    <a:pt x="156" y="264"/>
                    <a:pt x="147" y="261"/>
                    <a:pt x="142" y="258"/>
                  </a:cubicBezTo>
                  <a:cubicBezTo>
                    <a:pt x="137" y="255"/>
                    <a:pt x="132" y="251"/>
                    <a:pt x="128" y="246"/>
                  </a:cubicBezTo>
                  <a:cubicBezTo>
                    <a:pt x="124" y="240"/>
                    <a:pt x="122" y="233"/>
                    <a:pt x="122" y="225"/>
                  </a:cubicBezTo>
                  <a:cubicBezTo>
                    <a:pt x="122" y="213"/>
                    <a:pt x="126" y="204"/>
                    <a:pt x="134" y="196"/>
                  </a:cubicBezTo>
                  <a:cubicBezTo>
                    <a:pt x="142" y="189"/>
                    <a:pt x="154" y="185"/>
                    <a:pt x="169" y="184"/>
                  </a:cubicBezTo>
                  <a:cubicBezTo>
                    <a:pt x="169" y="175"/>
                    <a:pt x="169" y="175"/>
                    <a:pt x="169" y="175"/>
                  </a:cubicBezTo>
                  <a:cubicBezTo>
                    <a:pt x="183" y="175"/>
                    <a:pt x="183" y="175"/>
                    <a:pt x="183" y="175"/>
                  </a:cubicBezTo>
                  <a:cubicBezTo>
                    <a:pt x="183" y="184"/>
                    <a:pt x="183" y="184"/>
                    <a:pt x="183" y="184"/>
                  </a:cubicBezTo>
                  <a:cubicBezTo>
                    <a:pt x="197" y="185"/>
                    <a:pt x="208" y="188"/>
                    <a:pt x="215" y="194"/>
                  </a:cubicBezTo>
                  <a:cubicBezTo>
                    <a:pt x="223" y="200"/>
                    <a:pt x="228" y="208"/>
                    <a:pt x="230" y="218"/>
                  </a:cubicBezTo>
                  <a:cubicBezTo>
                    <a:pt x="195" y="223"/>
                    <a:pt x="195" y="223"/>
                    <a:pt x="195" y="223"/>
                  </a:cubicBezTo>
                  <a:cubicBezTo>
                    <a:pt x="193" y="219"/>
                    <a:pt x="191" y="216"/>
                    <a:pt x="190" y="214"/>
                  </a:cubicBezTo>
                  <a:cubicBezTo>
                    <a:pt x="189" y="212"/>
                    <a:pt x="186" y="211"/>
                    <a:pt x="183" y="209"/>
                  </a:cubicBezTo>
                  <a:cubicBezTo>
                    <a:pt x="183" y="236"/>
                    <a:pt x="183" y="236"/>
                    <a:pt x="183" y="236"/>
                  </a:cubicBezTo>
                  <a:cubicBezTo>
                    <a:pt x="202" y="241"/>
                    <a:pt x="215" y="247"/>
                    <a:pt x="221" y="252"/>
                  </a:cubicBezTo>
                  <a:cubicBezTo>
                    <a:pt x="230" y="260"/>
                    <a:pt x="234" y="270"/>
                    <a:pt x="234" y="282"/>
                  </a:cubicBezTo>
                  <a:cubicBezTo>
                    <a:pt x="234" y="288"/>
                    <a:pt x="233" y="295"/>
                    <a:pt x="230" y="301"/>
                  </a:cubicBezTo>
                  <a:close/>
                </a:path>
              </a:pathLst>
            </a:custGeom>
            <a:solidFill>
              <a:srgbClr val="E11D4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5ED02544-FF23-0170-ED0F-3352E07F8FC3}"/>
              </a:ext>
            </a:extLst>
          </p:cNvPr>
          <p:cNvGrpSpPr/>
          <p:nvPr/>
        </p:nvGrpSpPr>
        <p:grpSpPr>
          <a:xfrm>
            <a:off x="7991314" y="5364240"/>
            <a:ext cx="3780000" cy="1224000"/>
            <a:chOff x="7991314" y="5382712"/>
            <a:chExt cx="3780000" cy="1224000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C337B835-3777-1782-B4CD-FFD3FB56248F}"/>
                </a:ext>
              </a:extLst>
            </p:cNvPr>
            <p:cNvSpPr/>
            <p:nvPr/>
          </p:nvSpPr>
          <p:spPr>
            <a:xfrm>
              <a:off x="7991314" y="5382712"/>
              <a:ext cx="3780000" cy="1224000"/>
            </a:xfrm>
            <a:prstGeom prst="roundRect">
              <a:avLst/>
            </a:prstGeom>
            <a:solidFill>
              <a:srgbClr val="F1F5F9"/>
            </a:solidFill>
            <a:ln>
              <a:solidFill>
                <a:srgbClr val="F1F5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38">
              <a:extLst>
                <a:ext uri="{FF2B5EF4-FFF2-40B4-BE49-F238E27FC236}">
                  <a16:creationId xmlns:a16="http://schemas.microsoft.com/office/drawing/2014/main" id="{F27D2B16-7B3C-51B6-424A-C5C099DBD7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41142" y="5470222"/>
              <a:ext cx="180000" cy="285600"/>
            </a:xfrm>
            <a:custGeom>
              <a:avLst/>
              <a:gdLst>
                <a:gd name="T0" fmla="*/ 9 w 151"/>
                <a:gd name="T1" fmla="*/ 0 h 200"/>
                <a:gd name="T2" fmla="*/ 0 w 151"/>
                <a:gd name="T3" fmla="*/ 191 h 200"/>
                <a:gd name="T4" fmla="*/ 142 w 151"/>
                <a:gd name="T5" fmla="*/ 200 h 200"/>
                <a:gd name="T6" fmla="*/ 151 w 151"/>
                <a:gd name="T7" fmla="*/ 10 h 200"/>
                <a:gd name="T8" fmla="*/ 50 w 151"/>
                <a:gd name="T9" fmla="*/ 161 h 200"/>
                <a:gd name="T10" fmla="*/ 29 w 151"/>
                <a:gd name="T11" fmla="*/ 165 h 200"/>
                <a:gd name="T12" fmla="*/ 24 w 151"/>
                <a:gd name="T13" fmla="*/ 152 h 200"/>
                <a:gd name="T14" fmla="*/ 46 w 151"/>
                <a:gd name="T15" fmla="*/ 148 h 200"/>
                <a:gd name="T16" fmla="*/ 50 w 151"/>
                <a:gd name="T17" fmla="*/ 161 h 200"/>
                <a:gd name="T18" fmla="*/ 46 w 151"/>
                <a:gd name="T19" fmla="*/ 137 h 200"/>
                <a:gd name="T20" fmla="*/ 24 w 151"/>
                <a:gd name="T21" fmla="*/ 133 h 200"/>
                <a:gd name="T22" fmla="*/ 29 w 151"/>
                <a:gd name="T23" fmla="*/ 120 h 200"/>
                <a:gd name="T24" fmla="*/ 50 w 151"/>
                <a:gd name="T25" fmla="*/ 124 h 200"/>
                <a:gd name="T26" fmla="*/ 50 w 151"/>
                <a:gd name="T27" fmla="*/ 105 h 200"/>
                <a:gd name="T28" fmla="*/ 29 w 151"/>
                <a:gd name="T29" fmla="*/ 109 h 200"/>
                <a:gd name="T30" fmla="*/ 24 w 151"/>
                <a:gd name="T31" fmla="*/ 96 h 200"/>
                <a:gd name="T32" fmla="*/ 46 w 151"/>
                <a:gd name="T33" fmla="*/ 92 h 200"/>
                <a:gd name="T34" fmla="*/ 50 w 151"/>
                <a:gd name="T35" fmla="*/ 105 h 200"/>
                <a:gd name="T36" fmla="*/ 83 w 151"/>
                <a:gd name="T37" fmla="*/ 165 h 200"/>
                <a:gd name="T38" fmla="*/ 63 w 151"/>
                <a:gd name="T39" fmla="*/ 161 h 200"/>
                <a:gd name="T40" fmla="*/ 67 w 151"/>
                <a:gd name="T41" fmla="*/ 148 h 200"/>
                <a:gd name="T42" fmla="*/ 88 w 151"/>
                <a:gd name="T43" fmla="*/ 152 h 200"/>
                <a:gd name="T44" fmla="*/ 88 w 151"/>
                <a:gd name="T45" fmla="*/ 133 h 200"/>
                <a:gd name="T46" fmla="*/ 67 w 151"/>
                <a:gd name="T47" fmla="*/ 137 h 200"/>
                <a:gd name="T48" fmla="*/ 63 w 151"/>
                <a:gd name="T49" fmla="*/ 124 h 200"/>
                <a:gd name="T50" fmla="*/ 83 w 151"/>
                <a:gd name="T51" fmla="*/ 120 h 200"/>
                <a:gd name="T52" fmla="*/ 88 w 151"/>
                <a:gd name="T53" fmla="*/ 133 h 200"/>
                <a:gd name="T54" fmla="*/ 83 w 151"/>
                <a:gd name="T55" fmla="*/ 109 h 200"/>
                <a:gd name="T56" fmla="*/ 63 w 151"/>
                <a:gd name="T57" fmla="*/ 105 h 200"/>
                <a:gd name="T58" fmla="*/ 67 w 151"/>
                <a:gd name="T59" fmla="*/ 92 h 200"/>
                <a:gd name="T60" fmla="*/ 88 w 151"/>
                <a:gd name="T61" fmla="*/ 96 h 200"/>
                <a:gd name="T62" fmla="*/ 128 w 151"/>
                <a:gd name="T63" fmla="*/ 161 h 200"/>
                <a:gd name="T64" fmla="*/ 104 w 151"/>
                <a:gd name="T65" fmla="*/ 164 h 200"/>
                <a:gd name="T66" fmla="*/ 99 w 151"/>
                <a:gd name="T67" fmla="*/ 152 h 200"/>
                <a:gd name="T68" fmla="*/ 123 w 151"/>
                <a:gd name="T69" fmla="*/ 148 h 200"/>
                <a:gd name="T70" fmla="*/ 128 w 151"/>
                <a:gd name="T71" fmla="*/ 161 h 200"/>
                <a:gd name="T72" fmla="*/ 123 w 151"/>
                <a:gd name="T73" fmla="*/ 136 h 200"/>
                <a:gd name="T74" fmla="*/ 99 w 151"/>
                <a:gd name="T75" fmla="*/ 133 h 200"/>
                <a:gd name="T76" fmla="*/ 104 w 151"/>
                <a:gd name="T77" fmla="*/ 120 h 200"/>
                <a:gd name="T78" fmla="*/ 128 w 151"/>
                <a:gd name="T79" fmla="*/ 124 h 200"/>
                <a:gd name="T80" fmla="*/ 128 w 151"/>
                <a:gd name="T81" fmla="*/ 105 h 200"/>
                <a:gd name="T82" fmla="*/ 104 w 151"/>
                <a:gd name="T83" fmla="*/ 108 h 200"/>
                <a:gd name="T84" fmla="*/ 99 w 151"/>
                <a:gd name="T85" fmla="*/ 96 h 200"/>
                <a:gd name="T86" fmla="*/ 123 w 151"/>
                <a:gd name="T87" fmla="*/ 92 h 200"/>
                <a:gd name="T88" fmla="*/ 128 w 151"/>
                <a:gd name="T89" fmla="*/ 105 h 200"/>
                <a:gd name="T90" fmla="*/ 103 w 151"/>
                <a:gd name="T91" fmla="*/ 72 h 200"/>
                <a:gd name="T92" fmla="*/ 103 w 151"/>
                <a:gd name="T93" fmla="*/ 56 h 200"/>
                <a:gd name="T94" fmla="*/ 130 w 151"/>
                <a:gd name="T95" fmla="*/ 63 h 200"/>
                <a:gd name="T96" fmla="*/ 136 w 151"/>
                <a:gd name="T97" fmla="*/ 42 h 200"/>
                <a:gd name="T98" fmla="*/ 22 w 151"/>
                <a:gd name="T99" fmla="*/ 48 h 200"/>
                <a:gd name="T100" fmla="*/ 16 w 151"/>
                <a:gd name="T101" fmla="*/ 23 h 200"/>
                <a:gd name="T102" fmla="*/ 129 w 151"/>
                <a:gd name="T103" fmla="*/ 16 h 200"/>
                <a:gd name="T104" fmla="*/ 136 w 151"/>
                <a:gd name="T105" fmla="*/ 42 h 200"/>
                <a:gd name="T106" fmla="*/ 120 w 151"/>
                <a:gd name="T107" fmla="*/ 23 h 200"/>
                <a:gd name="T108" fmla="*/ 124 w 151"/>
                <a:gd name="T109" fmla="*/ 45 h 200"/>
                <a:gd name="T110" fmla="*/ 127 w 151"/>
                <a:gd name="T111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51" h="200">
                  <a:moveTo>
                    <a:pt x="142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96"/>
                    <a:pt x="4" y="200"/>
                    <a:pt x="9" y="200"/>
                  </a:cubicBezTo>
                  <a:cubicBezTo>
                    <a:pt x="142" y="200"/>
                    <a:pt x="142" y="200"/>
                    <a:pt x="142" y="200"/>
                  </a:cubicBezTo>
                  <a:cubicBezTo>
                    <a:pt x="147" y="200"/>
                    <a:pt x="151" y="196"/>
                    <a:pt x="151" y="191"/>
                  </a:cubicBezTo>
                  <a:cubicBezTo>
                    <a:pt x="151" y="10"/>
                    <a:pt x="151" y="10"/>
                    <a:pt x="151" y="10"/>
                  </a:cubicBezTo>
                  <a:cubicBezTo>
                    <a:pt x="151" y="4"/>
                    <a:pt x="147" y="0"/>
                    <a:pt x="142" y="0"/>
                  </a:cubicBezTo>
                  <a:close/>
                  <a:moveTo>
                    <a:pt x="50" y="161"/>
                  </a:moveTo>
                  <a:cubicBezTo>
                    <a:pt x="50" y="163"/>
                    <a:pt x="48" y="165"/>
                    <a:pt x="46" y="165"/>
                  </a:cubicBezTo>
                  <a:cubicBezTo>
                    <a:pt x="29" y="165"/>
                    <a:pt x="29" y="165"/>
                    <a:pt x="29" y="165"/>
                  </a:cubicBezTo>
                  <a:cubicBezTo>
                    <a:pt x="26" y="165"/>
                    <a:pt x="24" y="163"/>
                    <a:pt x="24" y="161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4" y="150"/>
                    <a:pt x="26" y="148"/>
                    <a:pt x="29" y="148"/>
                  </a:cubicBezTo>
                  <a:cubicBezTo>
                    <a:pt x="46" y="148"/>
                    <a:pt x="46" y="148"/>
                    <a:pt x="46" y="148"/>
                  </a:cubicBezTo>
                  <a:cubicBezTo>
                    <a:pt x="48" y="148"/>
                    <a:pt x="50" y="150"/>
                    <a:pt x="50" y="152"/>
                  </a:cubicBezTo>
                  <a:lnTo>
                    <a:pt x="50" y="161"/>
                  </a:lnTo>
                  <a:close/>
                  <a:moveTo>
                    <a:pt x="50" y="133"/>
                  </a:moveTo>
                  <a:cubicBezTo>
                    <a:pt x="50" y="135"/>
                    <a:pt x="48" y="137"/>
                    <a:pt x="46" y="137"/>
                  </a:cubicBezTo>
                  <a:cubicBezTo>
                    <a:pt x="29" y="137"/>
                    <a:pt x="29" y="137"/>
                    <a:pt x="29" y="137"/>
                  </a:cubicBezTo>
                  <a:cubicBezTo>
                    <a:pt x="26" y="137"/>
                    <a:pt x="24" y="135"/>
                    <a:pt x="24" y="133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4" y="122"/>
                    <a:pt x="26" y="120"/>
                    <a:pt x="29" y="120"/>
                  </a:cubicBezTo>
                  <a:cubicBezTo>
                    <a:pt x="46" y="120"/>
                    <a:pt x="46" y="120"/>
                    <a:pt x="46" y="120"/>
                  </a:cubicBezTo>
                  <a:cubicBezTo>
                    <a:pt x="48" y="120"/>
                    <a:pt x="50" y="122"/>
                    <a:pt x="50" y="124"/>
                  </a:cubicBezTo>
                  <a:lnTo>
                    <a:pt x="50" y="133"/>
                  </a:lnTo>
                  <a:close/>
                  <a:moveTo>
                    <a:pt x="50" y="105"/>
                  </a:moveTo>
                  <a:cubicBezTo>
                    <a:pt x="50" y="107"/>
                    <a:pt x="48" y="109"/>
                    <a:pt x="46" y="10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26" y="109"/>
                    <a:pt x="24" y="107"/>
                    <a:pt x="24" y="105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24" y="94"/>
                    <a:pt x="26" y="92"/>
                    <a:pt x="29" y="92"/>
                  </a:cubicBezTo>
                  <a:cubicBezTo>
                    <a:pt x="46" y="92"/>
                    <a:pt x="46" y="92"/>
                    <a:pt x="46" y="92"/>
                  </a:cubicBezTo>
                  <a:cubicBezTo>
                    <a:pt x="48" y="92"/>
                    <a:pt x="50" y="94"/>
                    <a:pt x="50" y="96"/>
                  </a:cubicBezTo>
                  <a:lnTo>
                    <a:pt x="50" y="105"/>
                  </a:lnTo>
                  <a:close/>
                  <a:moveTo>
                    <a:pt x="88" y="161"/>
                  </a:moveTo>
                  <a:cubicBezTo>
                    <a:pt x="88" y="163"/>
                    <a:pt x="86" y="165"/>
                    <a:pt x="83" y="165"/>
                  </a:cubicBezTo>
                  <a:cubicBezTo>
                    <a:pt x="67" y="165"/>
                    <a:pt x="67" y="165"/>
                    <a:pt x="67" y="165"/>
                  </a:cubicBezTo>
                  <a:cubicBezTo>
                    <a:pt x="65" y="165"/>
                    <a:pt x="63" y="163"/>
                    <a:pt x="63" y="161"/>
                  </a:cubicBezTo>
                  <a:cubicBezTo>
                    <a:pt x="63" y="152"/>
                    <a:pt x="63" y="152"/>
                    <a:pt x="63" y="152"/>
                  </a:cubicBezTo>
                  <a:cubicBezTo>
                    <a:pt x="63" y="150"/>
                    <a:pt x="65" y="148"/>
                    <a:pt x="67" y="148"/>
                  </a:cubicBezTo>
                  <a:cubicBezTo>
                    <a:pt x="83" y="148"/>
                    <a:pt x="83" y="148"/>
                    <a:pt x="83" y="148"/>
                  </a:cubicBezTo>
                  <a:cubicBezTo>
                    <a:pt x="86" y="148"/>
                    <a:pt x="88" y="150"/>
                    <a:pt x="88" y="152"/>
                  </a:cubicBezTo>
                  <a:lnTo>
                    <a:pt x="88" y="161"/>
                  </a:lnTo>
                  <a:close/>
                  <a:moveTo>
                    <a:pt x="88" y="133"/>
                  </a:moveTo>
                  <a:cubicBezTo>
                    <a:pt x="88" y="135"/>
                    <a:pt x="86" y="137"/>
                    <a:pt x="83" y="137"/>
                  </a:cubicBezTo>
                  <a:cubicBezTo>
                    <a:pt x="67" y="137"/>
                    <a:pt x="67" y="137"/>
                    <a:pt x="67" y="137"/>
                  </a:cubicBezTo>
                  <a:cubicBezTo>
                    <a:pt x="65" y="137"/>
                    <a:pt x="63" y="135"/>
                    <a:pt x="63" y="133"/>
                  </a:cubicBezTo>
                  <a:cubicBezTo>
                    <a:pt x="63" y="124"/>
                    <a:pt x="63" y="124"/>
                    <a:pt x="63" y="124"/>
                  </a:cubicBezTo>
                  <a:cubicBezTo>
                    <a:pt x="63" y="122"/>
                    <a:pt x="65" y="120"/>
                    <a:pt x="67" y="120"/>
                  </a:cubicBezTo>
                  <a:cubicBezTo>
                    <a:pt x="83" y="120"/>
                    <a:pt x="83" y="120"/>
                    <a:pt x="83" y="120"/>
                  </a:cubicBezTo>
                  <a:cubicBezTo>
                    <a:pt x="86" y="120"/>
                    <a:pt x="88" y="122"/>
                    <a:pt x="88" y="124"/>
                  </a:cubicBezTo>
                  <a:lnTo>
                    <a:pt x="88" y="133"/>
                  </a:lnTo>
                  <a:close/>
                  <a:moveTo>
                    <a:pt x="88" y="105"/>
                  </a:moveTo>
                  <a:cubicBezTo>
                    <a:pt x="88" y="107"/>
                    <a:pt x="86" y="109"/>
                    <a:pt x="83" y="109"/>
                  </a:cubicBezTo>
                  <a:cubicBezTo>
                    <a:pt x="67" y="109"/>
                    <a:pt x="67" y="109"/>
                    <a:pt x="67" y="109"/>
                  </a:cubicBezTo>
                  <a:cubicBezTo>
                    <a:pt x="65" y="109"/>
                    <a:pt x="63" y="107"/>
                    <a:pt x="63" y="105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63" y="94"/>
                    <a:pt x="65" y="92"/>
                    <a:pt x="67" y="92"/>
                  </a:cubicBezTo>
                  <a:cubicBezTo>
                    <a:pt x="83" y="92"/>
                    <a:pt x="83" y="92"/>
                    <a:pt x="83" y="92"/>
                  </a:cubicBezTo>
                  <a:cubicBezTo>
                    <a:pt x="86" y="92"/>
                    <a:pt x="88" y="94"/>
                    <a:pt x="88" y="96"/>
                  </a:cubicBezTo>
                  <a:lnTo>
                    <a:pt x="88" y="105"/>
                  </a:lnTo>
                  <a:close/>
                  <a:moveTo>
                    <a:pt x="128" y="161"/>
                  </a:moveTo>
                  <a:cubicBezTo>
                    <a:pt x="128" y="163"/>
                    <a:pt x="125" y="164"/>
                    <a:pt x="123" y="164"/>
                  </a:cubicBezTo>
                  <a:cubicBezTo>
                    <a:pt x="104" y="164"/>
                    <a:pt x="104" y="164"/>
                    <a:pt x="104" y="164"/>
                  </a:cubicBezTo>
                  <a:cubicBezTo>
                    <a:pt x="102" y="164"/>
                    <a:pt x="99" y="163"/>
                    <a:pt x="99" y="161"/>
                  </a:cubicBezTo>
                  <a:cubicBezTo>
                    <a:pt x="99" y="152"/>
                    <a:pt x="99" y="152"/>
                    <a:pt x="99" y="152"/>
                  </a:cubicBezTo>
                  <a:cubicBezTo>
                    <a:pt x="99" y="150"/>
                    <a:pt x="102" y="148"/>
                    <a:pt x="104" y="148"/>
                  </a:cubicBezTo>
                  <a:cubicBezTo>
                    <a:pt x="123" y="148"/>
                    <a:pt x="123" y="148"/>
                    <a:pt x="123" y="148"/>
                  </a:cubicBezTo>
                  <a:cubicBezTo>
                    <a:pt x="125" y="148"/>
                    <a:pt x="128" y="150"/>
                    <a:pt x="128" y="152"/>
                  </a:cubicBezTo>
                  <a:lnTo>
                    <a:pt x="128" y="161"/>
                  </a:lnTo>
                  <a:close/>
                  <a:moveTo>
                    <a:pt x="128" y="133"/>
                  </a:moveTo>
                  <a:cubicBezTo>
                    <a:pt x="128" y="135"/>
                    <a:pt x="125" y="136"/>
                    <a:pt x="123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2" y="136"/>
                    <a:pt x="99" y="135"/>
                    <a:pt x="99" y="133"/>
                  </a:cubicBezTo>
                  <a:cubicBezTo>
                    <a:pt x="99" y="124"/>
                    <a:pt x="99" y="124"/>
                    <a:pt x="99" y="124"/>
                  </a:cubicBezTo>
                  <a:cubicBezTo>
                    <a:pt x="99" y="122"/>
                    <a:pt x="102" y="120"/>
                    <a:pt x="104" y="120"/>
                  </a:cubicBezTo>
                  <a:cubicBezTo>
                    <a:pt x="123" y="120"/>
                    <a:pt x="123" y="120"/>
                    <a:pt x="123" y="120"/>
                  </a:cubicBezTo>
                  <a:cubicBezTo>
                    <a:pt x="125" y="120"/>
                    <a:pt x="128" y="122"/>
                    <a:pt x="128" y="124"/>
                  </a:cubicBezTo>
                  <a:lnTo>
                    <a:pt x="128" y="133"/>
                  </a:lnTo>
                  <a:close/>
                  <a:moveTo>
                    <a:pt x="128" y="105"/>
                  </a:moveTo>
                  <a:cubicBezTo>
                    <a:pt x="128" y="107"/>
                    <a:pt x="125" y="108"/>
                    <a:pt x="123" y="108"/>
                  </a:cubicBezTo>
                  <a:cubicBezTo>
                    <a:pt x="104" y="108"/>
                    <a:pt x="104" y="108"/>
                    <a:pt x="104" y="108"/>
                  </a:cubicBezTo>
                  <a:cubicBezTo>
                    <a:pt x="102" y="108"/>
                    <a:pt x="99" y="107"/>
                    <a:pt x="99" y="105"/>
                  </a:cubicBezTo>
                  <a:cubicBezTo>
                    <a:pt x="99" y="96"/>
                    <a:pt x="99" y="96"/>
                    <a:pt x="99" y="96"/>
                  </a:cubicBezTo>
                  <a:cubicBezTo>
                    <a:pt x="99" y="94"/>
                    <a:pt x="102" y="92"/>
                    <a:pt x="104" y="92"/>
                  </a:cubicBezTo>
                  <a:cubicBezTo>
                    <a:pt x="123" y="92"/>
                    <a:pt x="123" y="92"/>
                    <a:pt x="123" y="92"/>
                  </a:cubicBezTo>
                  <a:cubicBezTo>
                    <a:pt x="125" y="92"/>
                    <a:pt x="128" y="94"/>
                    <a:pt x="128" y="96"/>
                  </a:cubicBezTo>
                  <a:lnTo>
                    <a:pt x="128" y="105"/>
                  </a:lnTo>
                  <a:close/>
                  <a:moveTo>
                    <a:pt x="126" y="72"/>
                  </a:moveTo>
                  <a:cubicBezTo>
                    <a:pt x="103" y="72"/>
                    <a:pt x="103" y="72"/>
                    <a:pt x="103" y="72"/>
                  </a:cubicBezTo>
                  <a:cubicBezTo>
                    <a:pt x="100" y="72"/>
                    <a:pt x="99" y="67"/>
                    <a:pt x="99" y="63"/>
                  </a:cubicBezTo>
                  <a:cubicBezTo>
                    <a:pt x="99" y="60"/>
                    <a:pt x="100" y="56"/>
                    <a:pt x="103" y="56"/>
                  </a:cubicBezTo>
                  <a:cubicBezTo>
                    <a:pt x="126" y="56"/>
                    <a:pt x="126" y="56"/>
                    <a:pt x="126" y="56"/>
                  </a:cubicBezTo>
                  <a:cubicBezTo>
                    <a:pt x="128" y="56"/>
                    <a:pt x="130" y="60"/>
                    <a:pt x="130" y="63"/>
                  </a:cubicBezTo>
                  <a:cubicBezTo>
                    <a:pt x="130" y="67"/>
                    <a:pt x="128" y="72"/>
                    <a:pt x="126" y="72"/>
                  </a:cubicBezTo>
                  <a:close/>
                  <a:moveTo>
                    <a:pt x="136" y="42"/>
                  </a:moveTo>
                  <a:cubicBezTo>
                    <a:pt x="136" y="45"/>
                    <a:pt x="133" y="48"/>
                    <a:pt x="129" y="48"/>
                  </a:cubicBezTo>
                  <a:cubicBezTo>
                    <a:pt x="22" y="48"/>
                    <a:pt x="22" y="48"/>
                    <a:pt x="22" y="48"/>
                  </a:cubicBezTo>
                  <a:cubicBezTo>
                    <a:pt x="19" y="48"/>
                    <a:pt x="16" y="45"/>
                    <a:pt x="16" y="4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19"/>
                    <a:pt x="19" y="16"/>
                    <a:pt x="22" y="16"/>
                  </a:cubicBezTo>
                  <a:cubicBezTo>
                    <a:pt x="129" y="16"/>
                    <a:pt x="129" y="16"/>
                    <a:pt x="129" y="16"/>
                  </a:cubicBezTo>
                  <a:cubicBezTo>
                    <a:pt x="133" y="16"/>
                    <a:pt x="136" y="19"/>
                    <a:pt x="136" y="23"/>
                  </a:cubicBezTo>
                  <a:lnTo>
                    <a:pt x="136" y="42"/>
                  </a:lnTo>
                  <a:close/>
                  <a:moveTo>
                    <a:pt x="124" y="20"/>
                  </a:moveTo>
                  <a:cubicBezTo>
                    <a:pt x="122" y="20"/>
                    <a:pt x="120" y="21"/>
                    <a:pt x="120" y="23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4"/>
                    <a:pt x="122" y="45"/>
                    <a:pt x="124" y="45"/>
                  </a:cubicBezTo>
                  <a:cubicBezTo>
                    <a:pt x="126" y="45"/>
                    <a:pt x="127" y="44"/>
                    <a:pt x="127" y="42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21"/>
                    <a:pt x="126" y="20"/>
                    <a:pt x="124" y="2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6D95D56B-CBFE-5D9E-67C5-BCA433481156}"/>
                </a:ext>
              </a:extLst>
            </p:cNvPr>
            <p:cNvSpPr/>
            <p:nvPr/>
          </p:nvSpPr>
          <p:spPr>
            <a:xfrm>
              <a:off x="8251575" y="5437937"/>
              <a:ext cx="2033337" cy="3408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成本结构 </a:t>
              </a:r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 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边际优势</a:t>
              </a:r>
              <a:endPara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9B8BAAF0-AB47-7871-CAFD-DA84BAE63D9C}"/>
                </a:ext>
              </a:extLst>
            </p:cNvPr>
            <p:cNvGrpSpPr/>
            <p:nvPr/>
          </p:nvGrpSpPr>
          <p:grpSpPr>
            <a:xfrm>
              <a:off x="8096704" y="5793726"/>
              <a:ext cx="3569221" cy="341937"/>
              <a:chOff x="8165067" y="6050709"/>
              <a:chExt cx="3569221" cy="301709"/>
            </a:xfrm>
          </p:grpSpPr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BE642BBC-9668-AEE5-5B90-EA0D063CB833}"/>
                  </a:ext>
                </a:extLst>
              </p:cNvPr>
              <p:cNvSpPr/>
              <p:nvPr/>
            </p:nvSpPr>
            <p:spPr>
              <a:xfrm>
                <a:off x="8165067" y="6050709"/>
                <a:ext cx="828000" cy="30170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zh-CN" altLang="en-US" sz="1000" b="1" kern="1800" spc="1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运营费用</a:t>
                </a:r>
              </a:p>
            </p:txBody>
          </p:sp>
          <p:sp>
            <p:nvSpPr>
              <p:cNvPr id="65" name="矩形: 圆角 64">
                <a:extLst>
                  <a:ext uri="{FF2B5EF4-FFF2-40B4-BE49-F238E27FC236}">
                    <a16:creationId xmlns:a16="http://schemas.microsoft.com/office/drawing/2014/main" id="{CF28BEAA-8644-3A18-27EC-4EE719E30BA6}"/>
                  </a:ext>
                </a:extLst>
              </p:cNvPr>
              <p:cNvSpPr/>
              <p:nvPr/>
            </p:nvSpPr>
            <p:spPr>
              <a:xfrm>
                <a:off x="9078807" y="6050709"/>
                <a:ext cx="828000" cy="30170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zh-CN" altLang="en-US" sz="1000" b="1" kern="1800" spc="1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营销投流</a:t>
                </a:r>
              </a:p>
            </p:txBody>
          </p:sp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FC3F4423-D84F-0077-A0EB-E5CEDF2E634D}"/>
                  </a:ext>
                </a:extLst>
              </p:cNvPr>
              <p:cNvSpPr/>
              <p:nvPr/>
            </p:nvSpPr>
            <p:spPr>
              <a:xfrm>
                <a:off x="9992547" y="6050709"/>
                <a:ext cx="828000" cy="30170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000" b="1" kern="1800" spc="1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Token</a:t>
                </a:r>
              </a:p>
              <a:p>
                <a:pPr algn="ctr"/>
                <a:r>
                  <a:rPr lang="zh-CN" altLang="en-US" sz="1000" b="1" kern="1800" spc="1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消耗</a:t>
                </a:r>
                <a:endParaRPr lang="en-US" altLang="zh-CN" sz="1000" b="1" kern="1800" spc="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矩形: 圆角 66">
                <a:extLst>
                  <a:ext uri="{FF2B5EF4-FFF2-40B4-BE49-F238E27FC236}">
                    <a16:creationId xmlns:a16="http://schemas.microsoft.com/office/drawing/2014/main" id="{83558D60-415D-9C5B-4204-75EFF78E965E}"/>
                  </a:ext>
                </a:extLst>
              </p:cNvPr>
              <p:cNvSpPr/>
              <p:nvPr/>
            </p:nvSpPr>
            <p:spPr>
              <a:xfrm>
                <a:off x="10906288" y="6050709"/>
                <a:ext cx="828000" cy="30170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zh-CN" altLang="en-US" sz="1000" b="1" kern="1800" spc="1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智能体</a:t>
                </a:r>
                <a:endParaRPr lang="en-US" altLang="zh-CN" sz="1000" b="1" kern="1800" spc="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000" b="1" kern="1800" spc="1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开发运维</a:t>
                </a:r>
              </a:p>
            </p:txBody>
          </p:sp>
        </p:grp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B196007A-AABC-ABC4-877A-210D8AF25791}"/>
                </a:ext>
              </a:extLst>
            </p:cNvPr>
            <p:cNvSpPr/>
            <p:nvPr/>
          </p:nvSpPr>
          <p:spPr>
            <a:xfrm>
              <a:off x="8153314" y="6184908"/>
              <a:ext cx="3456000" cy="326400"/>
            </a:xfrm>
            <a:prstGeom prst="roundRect">
              <a:avLst>
                <a:gd name="adj" fmla="val 50000"/>
              </a:avLst>
            </a:prstGeom>
            <a:solidFill>
              <a:srgbClr val="FEF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整体毛利可控 </a:t>
              </a:r>
              <a:r>
                <a:rPr lang="en-US" altLang="zh-CN" sz="1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智能体复用率提升 → 边际成本持续下降</a:t>
              </a:r>
              <a:endParaRPr lang="zh-CN" altLang="en-US" sz="1000" b="1" kern="18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0" name="图形 69" descr="下降趋势">
              <a:extLst>
                <a:ext uri="{FF2B5EF4-FFF2-40B4-BE49-F238E27FC236}">
                  <a16:creationId xmlns:a16="http://schemas.microsoft.com/office/drawing/2014/main" id="{C861459E-57E6-906E-2333-0DEC6F4862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79851" y="6227530"/>
              <a:ext cx="216000" cy="244800"/>
            </a:xfrm>
            <a:prstGeom prst="rect">
              <a:avLst/>
            </a:prstGeom>
          </p:spPr>
        </p:pic>
      </p:grp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493C4099-AB77-69C8-A8AA-8B6453EC378D}"/>
              </a:ext>
            </a:extLst>
          </p:cNvPr>
          <p:cNvSpPr/>
          <p:nvPr/>
        </p:nvSpPr>
        <p:spPr>
          <a:xfrm>
            <a:off x="581719" y="3525643"/>
            <a:ext cx="2160000" cy="432000"/>
          </a:xfrm>
          <a:prstGeom prst="roundRect">
            <a:avLst>
              <a:gd name="adj" fmla="val 6579"/>
            </a:avLst>
          </a:prstGeom>
          <a:noFill/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流量获客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影响力智能体（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Influence Claw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00FDA9F-B985-AA93-7AC0-E6EAB3A4D8DE}"/>
              </a:ext>
            </a:extLst>
          </p:cNvPr>
          <p:cNvSpPr/>
          <p:nvPr/>
        </p:nvSpPr>
        <p:spPr>
          <a:xfrm>
            <a:off x="2913793" y="3525643"/>
            <a:ext cx="2160000" cy="432000"/>
          </a:xfrm>
          <a:prstGeom prst="roundRect">
            <a:avLst>
              <a:gd name="adj" fmla="val 6579"/>
            </a:avLst>
          </a:prstGeom>
          <a:noFill/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业务全链路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执行力智能体</a:t>
            </a:r>
            <a:endParaRPr lang="en-US" altLang="zh-CN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1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Expower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Claw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DB52B691-4C9E-2B69-4E7C-796C17658456}"/>
              </a:ext>
            </a:extLst>
          </p:cNvPr>
          <p:cNvSpPr/>
          <p:nvPr/>
        </p:nvSpPr>
        <p:spPr>
          <a:xfrm>
            <a:off x="5252956" y="3525643"/>
            <a:ext cx="2160000" cy="432000"/>
          </a:xfrm>
          <a:prstGeom prst="roundRect">
            <a:avLst>
              <a:gd name="adj" fmla="val 6579"/>
            </a:avLst>
          </a:prstGeom>
          <a:noFill/>
          <a:ln>
            <a:solidFill>
              <a:srgbClr val="F8C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产品革命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——Ai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产品原生智能体</a:t>
            </a:r>
            <a:endParaRPr lang="en-US" altLang="zh-CN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Inno Claw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1824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439229A3-5BC4-E233-7703-8288806638EA}"/>
              </a:ext>
            </a:extLst>
          </p:cNvPr>
          <p:cNvSpPr>
            <a:spLocks/>
          </p:cNvSpPr>
          <p:nvPr/>
        </p:nvSpPr>
        <p:spPr bwMode="auto">
          <a:xfrm>
            <a:off x="6210109" y="4241508"/>
            <a:ext cx="1094864" cy="774204"/>
          </a:xfrm>
          <a:custGeom>
            <a:avLst/>
            <a:gdLst>
              <a:gd name="T0" fmla="*/ 0 w 641"/>
              <a:gd name="T1" fmla="*/ 0 h 453"/>
              <a:gd name="T2" fmla="*/ 641 w 641"/>
              <a:gd name="T3" fmla="*/ 0 h 453"/>
              <a:gd name="T4" fmla="*/ 639 w 641"/>
              <a:gd name="T5" fmla="*/ 26 h 453"/>
              <a:gd name="T6" fmla="*/ 471 w 641"/>
              <a:gd name="T7" fmla="*/ 433 h 453"/>
              <a:gd name="T8" fmla="*/ 454 w 641"/>
              <a:gd name="T9" fmla="*/ 453 h 453"/>
              <a:gd name="T10" fmla="*/ 0 w 641"/>
              <a:gd name="T11" fmla="*/ 0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1" h="453">
                <a:moveTo>
                  <a:pt x="0" y="0"/>
                </a:moveTo>
                <a:cubicBezTo>
                  <a:pt x="641" y="0"/>
                  <a:pt x="641" y="0"/>
                  <a:pt x="641" y="0"/>
                </a:cubicBezTo>
                <a:cubicBezTo>
                  <a:pt x="639" y="26"/>
                  <a:pt x="639" y="26"/>
                  <a:pt x="639" y="26"/>
                </a:cubicBezTo>
                <a:cubicBezTo>
                  <a:pt x="628" y="177"/>
                  <a:pt x="570" y="318"/>
                  <a:pt x="471" y="433"/>
                </a:cubicBezTo>
                <a:cubicBezTo>
                  <a:pt x="454" y="453"/>
                  <a:pt x="454" y="453"/>
                  <a:pt x="454" y="453"/>
                </a:cubicBezTo>
                <a:lnTo>
                  <a:pt x="0" y="0"/>
                </a:lnTo>
                <a:close/>
              </a:path>
            </a:pathLst>
          </a:custGeom>
          <a:solidFill>
            <a:srgbClr val="973F5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DD1D6FB3-5457-1144-A772-8E49540110AC}"/>
              </a:ext>
            </a:extLst>
          </p:cNvPr>
          <p:cNvSpPr>
            <a:spLocks/>
          </p:cNvSpPr>
          <p:nvPr/>
        </p:nvSpPr>
        <p:spPr bwMode="auto">
          <a:xfrm>
            <a:off x="6210109" y="3371973"/>
            <a:ext cx="1094864" cy="774204"/>
          </a:xfrm>
          <a:custGeom>
            <a:avLst/>
            <a:gdLst>
              <a:gd name="T0" fmla="*/ 0 w 641"/>
              <a:gd name="T1" fmla="*/ 453 h 453"/>
              <a:gd name="T2" fmla="*/ 454 w 641"/>
              <a:gd name="T3" fmla="*/ 0 h 453"/>
              <a:gd name="T4" fmla="*/ 471 w 641"/>
              <a:gd name="T5" fmla="*/ 20 h 453"/>
              <a:gd name="T6" fmla="*/ 639 w 641"/>
              <a:gd name="T7" fmla="*/ 427 h 453"/>
              <a:gd name="T8" fmla="*/ 641 w 641"/>
              <a:gd name="T9" fmla="*/ 453 h 453"/>
              <a:gd name="T10" fmla="*/ 0 w 641"/>
              <a:gd name="T11" fmla="*/ 453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1" h="453">
                <a:moveTo>
                  <a:pt x="0" y="453"/>
                </a:moveTo>
                <a:cubicBezTo>
                  <a:pt x="454" y="0"/>
                  <a:pt x="454" y="0"/>
                  <a:pt x="454" y="0"/>
                </a:cubicBezTo>
                <a:cubicBezTo>
                  <a:pt x="471" y="20"/>
                  <a:pt x="471" y="20"/>
                  <a:pt x="471" y="20"/>
                </a:cubicBezTo>
                <a:cubicBezTo>
                  <a:pt x="570" y="135"/>
                  <a:pt x="628" y="275"/>
                  <a:pt x="639" y="427"/>
                </a:cubicBezTo>
                <a:cubicBezTo>
                  <a:pt x="641" y="453"/>
                  <a:pt x="641" y="453"/>
                  <a:pt x="641" y="453"/>
                </a:cubicBezTo>
                <a:lnTo>
                  <a:pt x="0" y="453"/>
                </a:lnTo>
                <a:close/>
              </a:path>
            </a:pathLst>
          </a:custGeom>
          <a:solidFill>
            <a:srgbClr val="E6642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36044F15-42DC-BF2F-574A-3949673154D6}"/>
              </a:ext>
            </a:extLst>
          </p:cNvPr>
          <p:cNvSpPr>
            <a:spLocks/>
          </p:cNvSpPr>
          <p:nvPr/>
        </p:nvSpPr>
        <p:spPr bwMode="auto">
          <a:xfrm>
            <a:off x="6143666" y="2984871"/>
            <a:ext cx="774204" cy="1094864"/>
          </a:xfrm>
          <a:custGeom>
            <a:avLst/>
            <a:gdLst>
              <a:gd name="T0" fmla="*/ 0 w 453"/>
              <a:gd name="T1" fmla="*/ 0 h 641"/>
              <a:gd name="T2" fmla="*/ 26 w 453"/>
              <a:gd name="T3" fmla="*/ 2 h 641"/>
              <a:gd name="T4" fmla="*/ 433 w 453"/>
              <a:gd name="T5" fmla="*/ 170 h 641"/>
              <a:gd name="T6" fmla="*/ 453 w 453"/>
              <a:gd name="T7" fmla="*/ 188 h 641"/>
              <a:gd name="T8" fmla="*/ 0 w 453"/>
              <a:gd name="T9" fmla="*/ 641 h 641"/>
              <a:gd name="T10" fmla="*/ 0 w 453"/>
              <a:gd name="T11" fmla="*/ 0 h 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3" h="641">
                <a:moveTo>
                  <a:pt x="0" y="0"/>
                </a:moveTo>
                <a:cubicBezTo>
                  <a:pt x="26" y="2"/>
                  <a:pt x="26" y="2"/>
                  <a:pt x="26" y="2"/>
                </a:cubicBezTo>
                <a:cubicBezTo>
                  <a:pt x="178" y="13"/>
                  <a:pt x="318" y="71"/>
                  <a:pt x="433" y="170"/>
                </a:cubicBezTo>
                <a:cubicBezTo>
                  <a:pt x="453" y="188"/>
                  <a:pt x="453" y="188"/>
                  <a:pt x="453" y="188"/>
                </a:cubicBezTo>
                <a:cubicBezTo>
                  <a:pt x="0" y="641"/>
                  <a:pt x="0" y="641"/>
                  <a:pt x="0" y="641"/>
                </a:cubicBezTo>
                <a:lnTo>
                  <a:pt x="0" y="0"/>
                </a:lnTo>
                <a:close/>
              </a:path>
            </a:pathLst>
          </a:custGeom>
          <a:solidFill>
            <a:srgbClr val="ED91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94BE53A5-0125-BBA5-4DA2-946BE5F9DFAA}"/>
              </a:ext>
            </a:extLst>
          </p:cNvPr>
          <p:cNvSpPr>
            <a:spLocks/>
          </p:cNvSpPr>
          <p:nvPr/>
        </p:nvSpPr>
        <p:spPr bwMode="auto">
          <a:xfrm>
            <a:off x="5274130" y="2984871"/>
            <a:ext cx="774204" cy="1094864"/>
          </a:xfrm>
          <a:custGeom>
            <a:avLst/>
            <a:gdLst>
              <a:gd name="T0" fmla="*/ 0 w 453"/>
              <a:gd name="T1" fmla="*/ 188 h 641"/>
              <a:gd name="T2" fmla="*/ 20 w 453"/>
              <a:gd name="T3" fmla="*/ 170 h 641"/>
              <a:gd name="T4" fmla="*/ 427 w 453"/>
              <a:gd name="T5" fmla="*/ 2 h 641"/>
              <a:gd name="T6" fmla="*/ 453 w 453"/>
              <a:gd name="T7" fmla="*/ 0 h 641"/>
              <a:gd name="T8" fmla="*/ 453 w 453"/>
              <a:gd name="T9" fmla="*/ 641 h 641"/>
              <a:gd name="T10" fmla="*/ 0 w 453"/>
              <a:gd name="T11" fmla="*/ 188 h 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3" h="641">
                <a:moveTo>
                  <a:pt x="0" y="188"/>
                </a:moveTo>
                <a:cubicBezTo>
                  <a:pt x="20" y="170"/>
                  <a:pt x="20" y="170"/>
                  <a:pt x="20" y="170"/>
                </a:cubicBezTo>
                <a:cubicBezTo>
                  <a:pt x="135" y="71"/>
                  <a:pt x="276" y="13"/>
                  <a:pt x="427" y="2"/>
                </a:cubicBezTo>
                <a:cubicBezTo>
                  <a:pt x="453" y="0"/>
                  <a:pt x="453" y="0"/>
                  <a:pt x="453" y="0"/>
                </a:cubicBezTo>
                <a:cubicBezTo>
                  <a:pt x="453" y="641"/>
                  <a:pt x="453" y="641"/>
                  <a:pt x="453" y="641"/>
                </a:cubicBezTo>
                <a:lnTo>
                  <a:pt x="0" y="188"/>
                </a:lnTo>
                <a:close/>
              </a:path>
            </a:pathLst>
          </a:custGeom>
          <a:solidFill>
            <a:srgbClr val="6E97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1A91A0D-6DAC-66BD-02C6-B9A75115BDA8}"/>
              </a:ext>
            </a:extLst>
          </p:cNvPr>
          <p:cNvSpPr>
            <a:spLocks/>
          </p:cNvSpPr>
          <p:nvPr/>
        </p:nvSpPr>
        <p:spPr bwMode="auto">
          <a:xfrm>
            <a:off x="4887028" y="3371973"/>
            <a:ext cx="1094864" cy="774204"/>
          </a:xfrm>
          <a:custGeom>
            <a:avLst/>
            <a:gdLst>
              <a:gd name="T0" fmla="*/ 0 w 641"/>
              <a:gd name="T1" fmla="*/ 453 h 453"/>
              <a:gd name="T2" fmla="*/ 2 w 641"/>
              <a:gd name="T3" fmla="*/ 427 h 453"/>
              <a:gd name="T4" fmla="*/ 170 w 641"/>
              <a:gd name="T5" fmla="*/ 20 h 453"/>
              <a:gd name="T6" fmla="*/ 188 w 641"/>
              <a:gd name="T7" fmla="*/ 0 h 453"/>
              <a:gd name="T8" fmla="*/ 641 w 641"/>
              <a:gd name="T9" fmla="*/ 453 h 453"/>
              <a:gd name="T10" fmla="*/ 0 w 641"/>
              <a:gd name="T11" fmla="*/ 453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1" h="453">
                <a:moveTo>
                  <a:pt x="0" y="453"/>
                </a:moveTo>
                <a:cubicBezTo>
                  <a:pt x="2" y="427"/>
                  <a:pt x="2" y="427"/>
                  <a:pt x="2" y="427"/>
                </a:cubicBezTo>
                <a:cubicBezTo>
                  <a:pt x="13" y="276"/>
                  <a:pt x="72" y="135"/>
                  <a:pt x="170" y="20"/>
                </a:cubicBezTo>
                <a:cubicBezTo>
                  <a:pt x="188" y="0"/>
                  <a:pt x="188" y="0"/>
                  <a:pt x="188" y="0"/>
                </a:cubicBezTo>
                <a:cubicBezTo>
                  <a:pt x="641" y="453"/>
                  <a:pt x="641" y="453"/>
                  <a:pt x="641" y="453"/>
                </a:cubicBezTo>
                <a:lnTo>
                  <a:pt x="0" y="453"/>
                </a:lnTo>
                <a:close/>
              </a:path>
            </a:pathLst>
          </a:custGeom>
          <a:solidFill>
            <a:srgbClr val="2C86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31C8AC73-8C29-7C5F-46CF-69C087EE37EF}"/>
              </a:ext>
            </a:extLst>
          </p:cNvPr>
          <p:cNvSpPr>
            <a:spLocks/>
          </p:cNvSpPr>
          <p:nvPr/>
        </p:nvSpPr>
        <p:spPr bwMode="auto">
          <a:xfrm>
            <a:off x="4887028" y="4241508"/>
            <a:ext cx="1094864" cy="774204"/>
          </a:xfrm>
          <a:custGeom>
            <a:avLst/>
            <a:gdLst>
              <a:gd name="T0" fmla="*/ 170 w 641"/>
              <a:gd name="T1" fmla="*/ 433 h 453"/>
              <a:gd name="T2" fmla="*/ 2 w 641"/>
              <a:gd name="T3" fmla="*/ 26 h 453"/>
              <a:gd name="T4" fmla="*/ 0 w 641"/>
              <a:gd name="T5" fmla="*/ 0 h 453"/>
              <a:gd name="T6" fmla="*/ 641 w 641"/>
              <a:gd name="T7" fmla="*/ 0 h 453"/>
              <a:gd name="T8" fmla="*/ 188 w 641"/>
              <a:gd name="T9" fmla="*/ 453 h 453"/>
              <a:gd name="T10" fmla="*/ 170 w 641"/>
              <a:gd name="T11" fmla="*/ 433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1" h="453">
                <a:moveTo>
                  <a:pt x="170" y="433"/>
                </a:moveTo>
                <a:cubicBezTo>
                  <a:pt x="72" y="318"/>
                  <a:pt x="13" y="177"/>
                  <a:pt x="2" y="26"/>
                </a:cubicBezTo>
                <a:cubicBezTo>
                  <a:pt x="0" y="0"/>
                  <a:pt x="0" y="0"/>
                  <a:pt x="0" y="0"/>
                </a:cubicBezTo>
                <a:cubicBezTo>
                  <a:pt x="641" y="0"/>
                  <a:pt x="641" y="0"/>
                  <a:pt x="641" y="0"/>
                </a:cubicBezTo>
                <a:cubicBezTo>
                  <a:pt x="188" y="453"/>
                  <a:pt x="188" y="453"/>
                  <a:pt x="188" y="453"/>
                </a:cubicBezTo>
                <a:lnTo>
                  <a:pt x="170" y="433"/>
                </a:lnTo>
                <a:close/>
              </a:path>
            </a:pathLst>
          </a:custGeom>
          <a:solidFill>
            <a:srgbClr val="4771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11">
            <a:extLst>
              <a:ext uri="{FF2B5EF4-FFF2-40B4-BE49-F238E27FC236}">
                <a16:creationId xmlns:a16="http://schemas.microsoft.com/office/drawing/2014/main" id="{C03FAC8C-8409-FC37-8703-357898EF16D1}"/>
              </a:ext>
            </a:extLst>
          </p:cNvPr>
          <p:cNvSpPr>
            <a:spLocks/>
          </p:cNvSpPr>
          <p:nvPr/>
        </p:nvSpPr>
        <p:spPr bwMode="auto">
          <a:xfrm>
            <a:off x="4533147" y="5085766"/>
            <a:ext cx="674540" cy="672374"/>
          </a:xfrm>
          <a:custGeom>
            <a:avLst/>
            <a:gdLst>
              <a:gd name="T0" fmla="*/ 0 w 934"/>
              <a:gd name="T1" fmla="*/ 863 h 931"/>
              <a:gd name="T2" fmla="*/ 868 w 934"/>
              <a:gd name="T3" fmla="*/ 0 h 931"/>
              <a:gd name="T4" fmla="*/ 934 w 934"/>
              <a:gd name="T5" fmla="*/ 68 h 931"/>
              <a:gd name="T6" fmla="*/ 69 w 934"/>
              <a:gd name="T7" fmla="*/ 931 h 931"/>
              <a:gd name="T8" fmla="*/ 0 w 934"/>
              <a:gd name="T9" fmla="*/ 863 h 9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4" h="931">
                <a:moveTo>
                  <a:pt x="0" y="863"/>
                </a:moveTo>
                <a:lnTo>
                  <a:pt x="868" y="0"/>
                </a:lnTo>
                <a:lnTo>
                  <a:pt x="934" y="68"/>
                </a:lnTo>
                <a:lnTo>
                  <a:pt x="69" y="931"/>
                </a:lnTo>
                <a:lnTo>
                  <a:pt x="0" y="863"/>
                </a:lnTo>
                <a:close/>
              </a:path>
            </a:pathLst>
          </a:custGeom>
          <a:solidFill>
            <a:srgbClr val="4771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5C395A34-09D1-82EB-6EA6-EC8B23B2ED20}"/>
              </a:ext>
            </a:extLst>
          </p:cNvPr>
          <p:cNvSpPr>
            <a:spLocks/>
          </p:cNvSpPr>
          <p:nvPr/>
        </p:nvSpPr>
        <p:spPr bwMode="auto">
          <a:xfrm>
            <a:off x="3779887" y="4166399"/>
            <a:ext cx="1032032" cy="1586686"/>
          </a:xfrm>
          <a:custGeom>
            <a:avLst/>
            <a:gdLst>
              <a:gd name="T0" fmla="*/ 342 w 604"/>
              <a:gd name="T1" fmla="*/ 929 h 929"/>
              <a:gd name="T2" fmla="*/ 21 w 604"/>
              <a:gd name="T3" fmla="*/ 285 h 929"/>
              <a:gd name="T4" fmla="*/ 47 w 604"/>
              <a:gd name="T5" fmla="*/ 64 h 929"/>
              <a:gd name="T6" fmla="*/ 228 w 604"/>
              <a:gd name="T7" fmla="*/ 0 h 929"/>
              <a:gd name="T8" fmla="*/ 353 w 604"/>
              <a:gd name="T9" fmla="*/ 0 h 929"/>
              <a:gd name="T10" fmla="*/ 604 w 604"/>
              <a:gd name="T11" fmla="*/ 1 h 929"/>
              <a:gd name="T12" fmla="*/ 604 w 604"/>
              <a:gd name="T13" fmla="*/ 41 h 929"/>
              <a:gd name="T14" fmla="*/ 354 w 604"/>
              <a:gd name="T15" fmla="*/ 41 h 929"/>
              <a:gd name="T16" fmla="*/ 228 w 604"/>
              <a:gd name="T17" fmla="*/ 41 h 929"/>
              <a:gd name="T18" fmla="*/ 78 w 604"/>
              <a:gd name="T19" fmla="*/ 90 h 929"/>
              <a:gd name="T20" fmla="*/ 61 w 604"/>
              <a:gd name="T21" fmla="*/ 277 h 929"/>
              <a:gd name="T22" fmla="*/ 370 w 604"/>
              <a:gd name="T23" fmla="*/ 900 h 929"/>
              <a:gd name="T24" fmla="*/ 342 w 604"/>
              <a:gd name="T25" fmla="*/ 929 h 9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04" h="929">
                <a:moveTo>
                  <a:pt x="342" y="929"/>
                </a:moveTo>
                <a:cubicBezTo>
                  <a:pt x="313" y="899"/>
                  <a:pt x="98" y="669"/>
                  <a:pt x="21" y="285"/>
                </a:cubicBezTo>
                <a:cubicBezTo>
                  <a:pt x="0" y="184"/>
                  <a:pt x="8" y="112"/>
                  <a:pt x="47" y="64"/>
                </a:cubicBezTo>
                <a:cubicBezTo>
                  <a:pt x="92" y="9"/>
                  <a:pt x="167" y="1"/>
                  <a:pt x="228" y="0"/>
                </a:cubicBezTo>
                <a:cubicBezTo>
                  <a:pt x="259" y="0"/>
                  <a:pt x="305" y="0"/>
                  <a:pt x="353" y="0"/>
                </a:cubicBezTo>
                <a:cubicBezTo>
                  <a:pt x="459" y="0"/>
                  <a:pt x="580" y="1"/>
                  <a:pt x="604" y="1"/>
                </a:cubicBezTo>
                <a:cubicBezTo>
                  <a:pt x="604" y="41"/>
                  <a:pt x="604" y="41"/>
                  <a:pt x="604" y="41"/>
                </a:cubicBezTo>
                <a:cubicBezTo>
                  <a:pt x="580" y="41"/>
                  <a:pt x="459" y="41"/>
                  <a:pt x="354" y="41"/>
                </a:cubicBezTo>
                <a:cubicBezTo>
                  <a:pt x="305" y="41"/>
                  <a:pt x="259" y="41"/>
                  <a:pt x="228" y="41"/>
                </a:cubicBezTo>
                <a:cubicBezTo>
                  <a:pt x="176" y="41"/>
                  <a:pt x="113" y="47"/>
                  <a:pt x="78" y="90"/>
                </a:cubicBezTo>
                <a:cubicBezTo>
                  <a:pt x="48" y="127"/>
                  <a:pt x="42" y="190"/>
                  <a:pt x="61" y="277"/>
                </a:cubicBezTo>
                <a:cubicBezTo>
                  <a:pt x="134" y="644"/>
                  <a:pt x="343" y="872"/>
                  <a:pt x="370" y="900"/>
                </a:cubicBezTo>
                <a:lnTo>
                  <a:pt x="342" y="929"/>
                </a:lnTo>
                <a:close/>
              </a:path>
            </a:pathLst>
          </a:custGeom>
          <a:solidFill>
            <a:srgbClr val="4771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D362DB44-7527-7EFD-4070-8FE471C8E952}"/>
              </a:ext>
            </a:extLst>
          </p:cNvPr>
          <p:cNvSpPr>
            <a:spLocks/>
          </p:cNvSpPr>
          <p:nvPr/>
        </p:nvSpPr>
        <p:spPr bwMode="auto">
          <a:xfrm>
            <a:off x="3774831" y="2672156"/>
            <a:ext cx="1436467" cy="1400357"/>
          </a:xfrm>
          <a:custGeom>
            <a:avLst/>
            <a:gdLst>
              <a:gd name="T0" fmla="*/ 0 w 841"/>
              <a:gd name="T1" fmla="*/ 820 h 820"/>
              <a:gd name="T2" fmla="*/ 228 w 841"/>
              <a:gd name="T3" fmla="*/ 138 h 820"/>
              <a:gd name="T4" fmla="*/ 402 w 841"/>
              <a:gd name="T5" fmla="*/ 1 h 820"/>
              <a:gd name="T6" fmla="*/ 417 w 841"/>
              <a:gd name="T7" fmla="*/ 0 h 820"/>
              <a:gd name="T8" fmla="*/ 576 w 841"/>
              <a:gd name="T9" fmla="*/ 84 h 820"/>
              <a:gd name="T10" fmla="*/ 841 w 841"/>
              <a:gd name="T11" fmla="*/ 350 h 820"/>
              <a:gd name="T12" fmla="*/ 813 w 841"/>
              <a:gd name="T13" fmla="*/ 378 h 820"/>
              <a:gd name="T14" fmla="*/ 547 w 841"/>
              <a:gd name="T15" fmla="*/ 113 h 820"/>
              <a:gd name="T16" fmla="*/ 417 w 841"/>
              <a:gd name="T17" fmla="*/ 40 h 820"/>
              <a:gd name="T18" fmla="*/ 407 w 841"/>
              <a:gd name="T19" fmla="*/ 41 h 820"/>
              <a:gd name="T20" fmla="*/ 262 w 841"/>
              <a:gd name="T21" fmla="*/ 161 h 820"/>
              <a:gd name="T22" fmla="*/ 40 w 841"/>
              <a:gd name="T23" fmla="*/ 820 h 820"/>
              <a:gd name="T24" fmla="*/ 0 w 841"/>
              <a:gd name="T25" fmla="*/ 820 h 8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41" h="820">
                <a:moveTo>
                  <a:pt x="0" y="820"/>
                </a:moveTo>
                <a:cubicBezTo>
                  <a:pt x="0" y="779"/>
                  <a:pt x="11" y="464"/>
                  <a:pt x="228" y="138"/>
                </a:cubicBezTo>
                <a:cubicBezTo>
                  <a:pt x="284" y="52"/>
                  <a:pt x="341" y="7"/>
                  <a:pt x="402" y="1"/>
                </a:cubicBezTo>
                <a:cubicBezTo>
                  <a:pt x="407" y="0"/>
                  <a:pt x="412" y="0"/>
                  <a:pt x="417" y="0"/>
                </a:cubicBezTo>
                <a:cubicBezTo>
                  <a:pt x="482" y="0"/>
                  <a:pt x="536" y="45"/>
                  <a:pt x="576" y="84"/>
                </a:cubicBezTo>
                <a:cubicBezTo>
                  <a:pt x="644" y="151"/>
                  <a:pt x="813" y="321"/>
                  <a:pt x="841" y="350"/>
                </a:cubicBezTo>
                <a:cubicBezTo>
                  <a:pt x="813" y="378"/>
                  <a:pt x="813" y="378"/>
                  <a:pt x="813" y="378"/>
                </a:cubicBezTo>
                <a:cubicBezTo>
                  <a:pt x="784" y="350"/>
                  <a:pt x="616" y="180"/>
                  <a:pt x="547" y="113"/>
                </a:cubicBezTo>
                <a:cubicBezTo>
                  <a:pt x="513" y="79"/>
                  <a:pt x="467" y="40"/>
                  <a:pt x="417" y="40"/>
                </a:cubicBezTo>
                <a:cubicBezTo>
                  <a:pt x="414" y="40"/>
                  <a:pt x="410" y="41"/>
                  <a:pt x="407" y="41"/>
                </a:cubicBezTo>
                <a:cubicBezTo>
                  <a:pt x="359" y="46"/>
                  <a:pt x="310" y="86"/>
                  <a:pt x="262" y="161"/>
                </a:cubicBezTo>
                <a:cubicBezTo>
                  <a:pt x="54" y="473"/>
                  <a:pt x="41" y="781"/>
                  <a:pt x="40" y="820"/>
                </a:cubicBezTo>
                <a:lnTo>
                  <a:pt x="0" y="820"/>
                </a:lnTo>
                <a:close/>
              </a:path>
            </a:pathLst>
          </a:custGeom>
          <a:solidFill>
            <a:srgbClr val="2C86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Freeform 14">
            <a:extLst>
              <a:ext uri="{FF2B5EF4-FFF2-40B4-BE49-F238E27FC236}">
                <a16:creationId xmlns:a16="http://schemas.microsoft.com/office/drawing/2014/main" id="{F00C0EB7-6EAA-EB75-0DAF-90A7AC889511}"/>
              </a:ext>
            </a:extLst>
          </p:cNvPr>
          <p:cNvSpPr>
            <a:spLocks/>
          </p:cNvSpPr>
          <p:nvPr/>
        </p:nvSpPr>
        <p:spPr bwMode="auto">
          <a:xfrm>
            <a:off x="4545425" y="1901563"/>
            <a:ext cx="1586686" cy="1014699"/>
          </a:xfrm>
          <a:custGeom>
            <a:avLst/>
            <a:gdLst>
              <a:gd name="T0" fmla="*/ 888 w 929"/>
              <a:gd name="T1" fmla="*/ 594 h 594"/>
              <a:gd name="T2" fmla="*/ 888 w 929"/>
              <a:gd name="T3" fmla="*/ 219 h 594"/>
              <a:gd name="T4" fmla="*/ 839 w 929"/>
              <a:gd name="T5" fmla="*/ 69 h 594"/>
              <a:gd name="T6" fmla="*/ 740 w 929"/>
              <a:gd name="T7" fmla="*/ 41 h 594"/>
              <a:gd name="T8" fmla="*/ 652 w 929"/>
              <a:gd name="T9" fmla="*/ 51 h 594"/>
              <a:gd name="T10" fmla="*/ 29 w 929"/>
              <a:gd name="T11" fmla="*/ 361 h 594"/>
              <a:gd name="T12" fmla="*/ 0 w 929"/>
              <a:gd name="T13" fmla="*/ 332 h 594"/>
              <a:gd name="T14" fmla="*/ 644 w 929"/>
              <a:gd name="T15" fmla="*/ 11 h 594"/>
              <a:gd name="T16" fmla="*/ 741 w 929"/>
              <a:gd name="T17" fmla="*/ 0 h 594"/>
              <a:gd name="T18" fmla="*/ 864 w 929"/>
              <a:gd name="T19" fmla="*/ 37 h 594"/>
              <a:gd name="T20" fmla="*/ 928 w 929"/>
              <a:gd name="T21" fmla="*/ 219 h 594"/>
              <a:gd name="T22" fmla="*/ 928 w 929"/>
              <a:gd name="T23" fmla="*/ 594 h 594"/>
              <a:gd name="T24" fmla="*/ 888 w 929"/>
              <a:gd name="T25" fmla="*/ 594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9" h="594">
                <a:moveTo>
                  <a:pt x="888" y="594"/>
                </a:moveTo>
                <a:cubicBezTo>
                  <a:pt x="888" y="542"/>
                  <a:pt x="888" y="313"/>
                  <a:pt x="888" y="219"/>
                </a:cubicBezTo>
                <a:cubicBezTo>
                  <a:pt x="887" y="167"/>
                  <a:pt x="881" y="103"/>
                  <a:pt x="839" y="69"/>
                </a:cubicBezTo>
                <a:cubicBezTo>
                  <a:pt x="816" y="50"/>
                  <a:pt x="783" y="41"/>
                  <a:pt x="740" y="41"/>
                </a:cubicBezTo>
                <a:cubicBezTo>
                  <a:pt x="714" y="41"/>
                  <a:pt x="685" y="44"/>
                  <a:pt x="652" y="51"/>
                </a:cubicBezTo>
                <a:cubicBezTo>
                  <a:pt x="285" y="125"/>
                  <a:pt x="57" y="334"/>
                  <a:pt x="29" y="361"/>
                </a:cubicBezTo>
                <a:cubicBezTo>
                  <a:pt x="0" y="332"/>
                  <a:pt x="0" y="332"/>
                  <a:pt x="0" y="332"/>
                </a:cubicBezTo>
                <a:cubicBezTo>
                  <a:pt x="29" y="304"/>
                  <a:pt x="260" y="88"/>
                  <a:pt x="644" y="11"/>
                </a:cubicBezTo>
                <a:cubicBezTo>
                  <a:pt x="679" y="4"/>
                  <a:pt x="712" y="0"/>
                  <a:pt x="741" y="0"/>
                </a:cubicBezTo>
                <a:cubicBezTo>
                  <a:pt x="793" y="0"/>
                  <a:pt x="833" y="12"/>
                  <a:pt x="864" y="37"/>
                </a:cubicBezTo>
                <a:cubicBezTo>
                  <a:pt x="920" y="82"/>
                  <a:pt x="928" y="158"/>
                  <a:pt x="928" y="219"/>
                </a:cubicBezTo>
                <a:cubicBezTo>
                  <a:pt x="929" y="313"/>
                  <a:pt x="928" y="542"/>
                  <a:pt x="928" y="594"/>
                </a:cubicBezTo>
                <a:lnTo>
                  <a:pt x="888" y="594"/>
                </a:lnTo>
                <a:close/>
              </a:path>
            </a:pathLst>
          </a:custGeom>
          <a:solidFill>
            <a:srgbClr val="6E97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15">
            <a:extLst>
              <a:ext uri="{FF2B5EF4-FFF2-40B4-BE49-F238E27FC236}">
                <a16:creationId xmlns:a16="http://schemas.microsoft.com/office/drawing/2014/main" id="{8FC6C91B-C810-CC6A-A840-D2A6A9D78661}"/>
              </a:ext>
            </a:extLst>
          </p:cNvPr>
          <p:cNvSpPr>
            <a:spLocks/>
          </p:cNvSpPr>
          <p:nvPr/>
        </p:nvSpPr>
        <p:spPr bwMode="auto">
          <a:xfrm>
            <a:off x="6223830" y="1879174"/>
            <a:ext cx="1414801" cy="1438633"/>
          </a:xfrm>
          <a:custGeom>
            <a:avLst/>
            <a:gdLst>
              <a:gd name="T0" fmla="*/ 443 w 828"/>
              <a:gd name="T1" fmla="*/ 813 h 842"/>
              <a:gd name="T2" fmla="*/ 443 w 828"/>
              <a:gd name="T3" fmla="*/ 813 h 842"/>
              <a:gd name="T4" fmla="*/ 708 w 828"/>
              <a:gd name="T5" fmla="*/ 548 h 842"/>
              <a:gd name="T6" fmla="*/ 780 w 828"/>
              <a:gd name="T7" fmla="*/ 407 h 842"/>
              <a:gd name="T8" fmla="*/ 660 w 828"/>
              <a:gd name="T9" fmla="*/ 262 h 842"/>
              <a:gd name="T10" fmla="*/ 0 w 828"/>
              <a:gd name="T11" fmla="*/ 41 h 842"/>
              <a:gd name="T12" fmla="*/ 0 w 828"/>
              <a:gd name="T13" fmla="*/ 0 h 842"/>
              <a:gd name="T14" fmla="*/ 682 w 828"/>
              <a:gd name="T15" fmla="*/ 229 h 842"/>
              <a:gd name="T16" fmla="*/ 820 w 828"/>
              <a:gd name="T17" fmla="*/ 403 h 842"/>
              <a:gd name="T18" fmla="*/ 737 w 828"/>
              <a:gd name="T19" fmla="*/ 576 h 842"/>
              <a:gd name="T20" fmla="*/ 471 w 828"/>
              <a:gd name="T21" fmla="*/ 842 h 842"/>
              <a:gd name="T22" fmla="*/ 443 w 828"/>
              <a:gd name="T23" fmla="*/ 813 h 8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28" h="842">
                <a:moveTo>
                  <a:pt x="443" y="813"/>
                </a:moveTo>
                <a:cubicBezTo>
                  <a:pt x="443" y="813"/>
                  <a:pt x="443" y="813"/>
                  <a:pt x="443" y="813"/>
                </a:cubicBezTo>
                <a:cubicBezTo>
                  <a:pt x="502" y="754"/>
                  <a:pt x="646" y="611"/>
                  <a:pt x="708" y="548"/>
                </a:cubicBezTo>
                <a:cubicBezTo>
                  <a:pt x="744" y="511"/>
                  <a:pt x="786" y="461"/>
                  <a:pt x="780" y="407"/>
                </a:cubicBezTo>
                <a:cubicBezTo>
                  <a:pt x="775" y="360"/>
                  <a:pt x="734" y="311"/>
                  <a:pt x="660" y="262"/>
                </a:cubicBezTo>
                <a:cubicBezTo>
                  <a:pt x="346" y="54"/>
                  <a:pt x="40" y="41"/>
                  <a:pt x="0" y="41"/>
                </a:cubicBezTo>
                <a:cubicBezTo>
                  <a:pt x="0" y="0"/>
                  <a:pt x="0" y="0"/>
                  <a:pt x="0" y="0"/>
                </a:cubicBezTo>
                <a:cubicBezTo>
                  <a:pt x="37" y="1"/>
                  <a:pt x="357" y="12"/>
                  <a:pt x="682" y="229"/>
                </a:cubicBezTo>
                <a:cubicBezTo>
                  <a:pt x="768" y="285"/>
                  <a:pt x="813" y="342"/>
                  <a:pt x="820" y="403"/>
                </a:cubicBezTo>
                <a:cubicBezTo>
                  <a:pt x="828" y="474"/>
                  <a:pt x="780" y="533"/>
                  <a:pt x="737" y="576"/>
                </a:cubicBezTo>
                <a:cubicBezTo>
                  <a:pt x="669" y="645"/>
                  <a:pt x="500" y="814"/>
                  <a:pt x="471" y="842"/>
                </a:cubicBezTo>
                <a:lnTo>
                  <a:pt x="443" y="813"/>
                </a:lnTo>
                <a:close/>
              </a:path>
            </a:pathLst>
          </a:custGeom>
          <a:solidFill>
            <a:srgbClr val="ED91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4A307BE5-D4B5-A236-DD13-C21252A0BFDB}"/>
              </a:ext>
            </a:extLst>
          </p:cNvPr>
          <p:cNvSpPr>
            <a:spLocks/>
          </p:cNvSpPr>
          <p:nvPr/>
        </p:nvSpPr>
        <p:spPr bwMode="auto">
          <a:xfrm>
            <a:off x="7380082" y="2651212"/>
            <a:ext cx="1032032" cy="1585241"/>
          </a:xfrm>
          <a:custGeom>
            <a:avLst/>
            <a:gdLst>
              <a:gd name="T0" fmla="*/ 251 w 604"/>
              <a:gd name="T1" fmla="*/ 928 h 928"/>
              <a:gd name="T2" fmla="*/ 0 w 604"/>
              <a:gd name="T3" fmla="*/ 928 h 928"/>
              <a:gd name="T4" fmla="*/ 0 w 604"/>
              <a:gd name="T5" fmla="*/ 887 h 928"/>
              <a:gd name="T6" fmla="*/ 250 w 604"/>
              <a:gd name="T7" fmla="*/ 888 h 928"/>
              <a:gd name="T8" fmla="*/ 376 w 604"/>
              <a:gd name="T9" fmla="*/ 887 h 928"/>
              <a:gd name="T10" fmla="*/ 526 w 604"/>
              <a:gd name="T11" fmla="*/ 839 h 928"/>
              <a:gd name="T12" fmla="*/ 544 w 604"/>
              <a:gd name="T13" fmla="*/ 651 h 928"/>
              <a:gd name="T14" fmla="*/ 234 w 604"/>
              <a:gd name="T15" fmla="*/ 28 h 928"/>
              <a:gd name="T16" fmla="*/ 262 w 604"/>
              <a:gd name="T17" fmla="*/ 0 h 928"/>
              <a:gd name="T18" fmla="*/ 583 w 604"/>
              <a:gd name="T19" fmla="*/ 643 h 928"/>
              <a:gd name="T20" fmla="*/ 557 w 604"/>
              <a:gd name="T21" fmla="*/ 864 h 928"/>
              <a:gd name="T22" fmla="*/ 376 w 604"/>
              <a:gd name="T23" fmla="*/ 928 h 928"/>
              <a:gd name="T24" fmla="*/ 251 w 604"/>
              <a:gd name="T25" fmla="*/ 928 h 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04" h="928">
                <a:moveTo>
                  <a:pt x="251" y="928"/>
                </a:moveTo>
                <a:cubicBezTo>
                  <a:pt x="145" y="928"/>
                  <a:pt x="24" y="928"/>
                  <a:pt x="0" y="928"/>
                </a:cubicBezTo>
                <a:cubicBezTo>
                  <a:pt x="0" y="887"/>
                  <a:pt x="0" y="887"/>
                  <a:pt x="0" y="887"/>
                </a:cubicBezTo>
                <a:cubicBezTo>
                  <a:pt x="24" y="887"/>
                  <a:pt x="145" y="888"/>
                  <a:pt x="250" y="888"/>
                </a:cubicBezTo>
                <a:cubicBezTo>
                  <a:pt x="299" y="888"/>
                  <a:pt x="345" y="888"/>
                  <a:pt x="376" y="887"/>
                </a:cubicBezTo>
                <a:cubicBezTo>
                  <a:pt x="428" y="887"/>
                  <a:pt x="492" y="881"/>
                  <a:pt x="526" y="839"/>
                </a:cubicBezTo>
                <a:cubicBezTo>
                  <a:pt x="556" y="801"/>
                  <a:pt x="562" y="738"/>
                  <a:pt x="544" y="651"/>
                </a:cubicBezTo>
                <a:cubicBezTo>
                  <a:pt x="470" y="284"/>
                  <a:pt x="261" y="56"/>
                  <a:pt x="234" y="28"/>
                </a:cubicBezTo>
                <a:cubicBezTo>
                  <a:pt x="262" y="0"/>
                  <a:pt x="262" y="0"/>
                  <a:pt x="262" y="0"/>
                </a:cubicBezTo>
                <a:cubicBezTo>
                  <a:pt x="291" y="29"/>
                  <a:pt x="506" y="259"/>
                  <a:pt x="583" y="643"/>
                </a:cubicBezTo>
                <a:cubicBezTo>
                  <a:pt x="604" y="744"/>
                  <a:pt x="596" y="816"/>
                  <a:pt x="557" y="864"/>
                </a:cubicBezTo>
                <a:cubicBezTo>
                  <a:pt x="512" y="920"/>
                  <a:pt x="437" y="927"/>
                  <a:pt x="376" y="928"/>
                </a:cubicBezTo>
                <a:cubicBezTo>
                  <a:pt x="345" y="928"/>
                  <a:pt x="300" y="928"/>
                  <a:pt x="251" y="928"/>
                </a:cubicBezTo>
                <a:close/>
              </a:path>
            </a:pathLst>
          </a:custGeom>
          <a:solidFill>
            <a:srgbClr val="E6642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C03144A4-2F4E-A16A-10B6-C2529B20E807}"/>
              </a:ext>
            </a:extLst>
          </p:cNvPr>
          <p:cNvSpPr>
            <a:spLocks/>
          </p:cNvSpPr>
          <p:nvPr/>
        </p:nvSpPr>
        <p:spPr bwMode="auto">
          <a:xfrm>
            <a:off x="6980702" y="4330339"/>
            <a:ext cx="1436467" cy="1401079"/>
          </a:xfrm>
          <a:custGeom>
            <a:avLst/>
            <a:gdLst>
              <a:gd name="T0" fmla="*/ 424 w 841"/>
              <a:gd name="T1" fmla="*/ 820 h 820"/>
              <a:gd name="T2" fmla="*/ 265 w 841"/>
              <a:gd name="T3" fmla="*/ 736 h 820"/>
              <a:gd name="T4" fmla="*/ 1 w 841"/>
              <a:gd name="T5" fmla="*/ 472 h 820"/>
              <a:gd name="T6" fmla="*/ 0 w 841"/>
              <a:gd name="T7" fmla="*/ 471 h 820"/>
              <a:gd name="T8" fmla="*/ 29 w 841"/>
              <a:gd name="T9" fmla="*/ 442 h 820"/>
              <a:gd name="T10" fmla="*/ 294 w 841"/>
              <a:gd name="T11" fmla="*/ 708 h 820"/>
              <a:gd name="T12" fmla="*/ 424 w 841"/>
              <a:gd name="T13" fmla="*/ 780 h 820"/>
              <a:gd name="T14" fmla="*/ 424 w 841"/>
              <a:gd name="T15" fmla="*/ 780 h 820"/>
              <a:gd name="T16" fmla="*/ 434 w 841"/>
              <a:gd name="T17" fmla="*/ 779 h 820"/>
              <a:gd name="T18" fmla="*/ 579 w 841"/>
              <a:gd name="T19" fmla="*/ 660 h 820"/>
              <a:gd name="T20" fmla="*/ 801 w 841"/>
              <a:gd name="T21" fmla="*/ 0 h 820"/>
              <a:gd name="T22" fmla="*/ 841 w 841"/>
              <a:gd name="T23" fmla="*/ 0 h 820"/>
              <a:gd name="T24" fmla="*/ 613 w 841"/>
              <a:gd name="T25" fmla="*/ 682 h 820"/>
              <a:gd name="T26" fmla="*/ 439 w 841"/>
              <a:gd name="T27" fmla="*/ 820 h 820"/>
              <a:gd name="T28" fmla="*/ 424 w 841"/>
              <a:gd name="T29" fmla="*/ 820 h 8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41" h="820">
                <a:moveTo>
                  <a:pt x="424" y="820"/>
                </a:moveTo>
                <a:cubicBezTo>
                  <a:pt x="359" y="820"/>
                  <a:pt x="305" y="776"/>
                  <a:pt x="265" y="736"/>
                </a:cubicBezTo>
                <a:cubicBezTo>
                  <a:pt x="203" y="675"/>
                  <a:pt x="60" y="531"/>
                  <a:pt x="1" y="472"/>
                </a:cubicBezTo>
                <a:cubicBezTo>
                  <a:pt x="0" y="471"/>
                  <a:pt x="0" y="471"/>
                  <a:pt x="0" y="471"/>
                </a:cubicBezTo>
                <a:cubicBezTo>
                  <a:pt x="29" y="442"/>
                  <a:pt x="29" y="442"/>
                  <a:pt x="29" y="442"/>
                </a:cubicBezTo>
                <a:cubicBezTo>
                  <a:pt x="53" y="466"/>
                  <a:pt x="224" y="638"/>
                  <a:pt x="294" y="708"/>
                </a:cubicBezTo>
                <a:cubicBezTo>
                  <a:pt x="328" y="741"/>
                  <a:pt x="374" y="780"/>
                  <a:pt x="424" y="780"/>
                </a:cubicBezTo>
                <a:cubicBezTo>
                  <a:pt x="424" y="780"/>
                  <a:pt x="424" y="780"/>
                  <a:pt x="424" y="780"/>
                </a:cubicBezTo>
                <a:cubicBezTo>
                  <a:pt x="427" y="780"/>
                  <a:pt x="431" y="780"/>
                  <a:pt x="434" y="779"/>
                </a:cubicBezTo>
                <a:cubicBezTo>
                  <a:pt x="482" y="774"/>
                  <a:pt x="531" y="734"/>
                  <a:pt x="579" y="660"/>
                </a:cubicBezTo>
                <a:cubicBezTo>
                  <a:pt x="787" y="348"/>
                  <a:pt x="800" y="39"/>
                  <a:pt x="801" y="0"/>
                </a:cubicBezTo>
                <a:cubicBezTo>
                  <a:pt x="841" y="0"/>
                  <a:pt x="841" y="0"/>
                  <a:pt x="841" y="0"/>
                </a:cubicBezTo>
                <a:cubicBezTo>
                  <a:pt x="841" y="41"/>
                  <a:pt x="830" y="356"/>
                  <a:pt x="613" y="682"/>
                </a:cubicBezTo>
                <a:cubicBezTo>
                  <a:pt x="557" y="768"/>
                  <a:pt x="500" y="813"/>
                  <a:pt x="439" y="820"/>
                </a:cubicBezTo>
                <a:cubicBezTo>
                  <a:pt x="434" y="820"/>
                  <a:pt x="429" y="820"/>
                  <a:pt x="424" y="820"/>
                </a:cubicBezTo>
                <a:close/>
              </a:path>
            </a:pathLst>
          </a:custGeom>
          <a:solidFill>
            <a:srgbClr val="973F5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18">
            <a:extLst>
              <a:ext uri="{FF2B5EF4-FFF2-40B4-BE49-F238E27FC236}">
                <a16:creationId xmlns:a16="http://schemas.microsoft.com/office/drawing/2014/main" id="{0159CAE9-F9E5-1441-4865-D9ED52D1694F}"/>
              </a:ext>
            </a:extLst>
          </p:cNvPr>
          <p:cNvSpPr>
            <a:spLocks/>
          </p:cNvSpPr>
          <p:nvPr/>
        </p:nvSpPr>
        <p:spPr bwMode="auto">
          <a:xfrm>
            <a:off x="5300129" y="4344062"/>
            <a:ext cx="46221" cy="307660"/>
          </a:xfrm>
          <a:custGeom>
            <a:avLst/>
            <a:gdLst>
              <a:gd name="T0" fmla="*/ 0 w 64"/>
              <a:gd name="T1" fmla="*/ 0 h 426"/>
              <a:gd name="T2" fmla="*/ 0 w 64"/>
              <a:gd name="T3" fmla="*/ 33 h 426"/>
              <a:gd name="T4" fmla="*/ 31 w 64"/>
              <a:gd name="T5" fmla="*/ 33 h 426"/>
              <a:gd name="T6" fmla="*/ 31 w 64"/>
              <a:gd name="T7" fmla="*/ 426 h 426"/>
              <a:gd name="T8" fmla="*/ 64 w 64"/>
              <a:gd name="T9" fmla="*/ 426 h 426"/>
              <a:gd name="T10" fmla="*/ 64 w 64"/>
              <a:gd name="T11" fmla="*/ 0 h 426"/>
              <a:gd name="T12" fmla="*/ 0 w 64"/>
              <a:gd name="T13" fmla="*/ 0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4" h="426">
                <a:moveTo>
                  <a:pt x="0" y="0"/>
                </a:moveTo>
                <a:lnTo>
                  <a:pt x="0" y="33"/>
                </a:lnTo>
                <a:lnTo>
                  <a:pt x="31" y="33"/>
                </a:lnTo>
                <a:lnTo>
                  <a:pt x="31" y="426"/>
                </a:lnTo>
                <a:lnTo>
                  <a:pt x="64" y="426"/>
                </a:lnTo>
                <a:lnTo>
                  <a:pt x="6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Freeform 19">
            <a:extLst>
              <a:ext uri="{FF2B5EF4-FFF2-40B4-BE49-F238E27FC236}">
                <a16:creationId xmlns:a16="http://schemas.microsoft.com/office/drawing/2014/main" id="{999025D8-AF33-13F3-E4EB-4F051BC2D47C}"/>
              </a:ext>
            </a:extLst>
          </p:cNvPr>
          <p:cNvSpPr>
            <a:spLocks/>
          </p:cNvSpPr>
          <p:nvPr/>
        </p:nvSpPr>
        <p:spPr bwMode="auto">
          <a:xfrm>
            <a:off x="5271241" y="3735965"/>
            <a:ext cx="156719" cy="309104"/>
          </a:xfrm>
          <a:custGeom>
            <a:avLst/>
            <a:gdLst>
              <a:gd name="T0" fmla="*/ 21 w 92"/>
              <a:gd name="T1" fmla="*/ 139 h 181"/>
              <a:gd name="T2" fmla="*/ 52 w 92"/>
              <a:gd name="T3" fmla="*/ 104 h 181"/>
              <a:gd name="T4" fmla="*/ 92 w 92"/>
              <a:gd name="T5" fmla="*/ 46 h 181"/>
              <a:gd name="T6" fmla="*/ 79 w 92"/>
              <a:gd name="T7" fmla="*/ 14 h 181"/>
              <a:gd name="T8" fmla="*/ 47 w 92"/>
              <a:gd name="T9" fmla="*/ 0 h 181"/>
              <a:gd name="T10" fmla="*/ 10 w 92"/>
              <a:gd name="T11" fmla="*/ 18 h 181"/>
              <a:gd name="T12" fmla="*/ 1 w 92"/>
              <a:gd name="T13" fmla="*/ 46 h 181"/>
              <a:gd name="T14" fmla="*/ 1 w 92"/>
              <a:gd name="T15" fmla="*/ 49 h 181"/>
              <a:gd name="T16" fmla="*/ 15 w 92"/>
              <a:gd name="T17" fmla="*/ 49 h 181"/>
              <a:gd name="T18" fmla="*/ 15 w 92"/>
              <a:gd name="T19" fmla="*/ 46 h 181"/>
              <a:gd name="T20" fmla="*/ 21 w 92"/>
              <a:gd name="T21" fmla="*/ 27 h 181"/>
              <a:gd name="T22" fmla="*/ 47 w 92"/>
              <a:gd name="T23" fmla="*/ 14 h 181"/>
              <a:gd name="T24" fmla="*/ 69 w 92"/>
              <a:gd name="T25" fmla="*/ 23 h 181"/>
              <a:gd name="T26" fmla="*/ 78 w 92"/>
              <a:gd name="T27" fmla="*/ 46 h 181"/>
              <a:gd name="T28" fmla="*/ 44 w 92"/>
              <a:gd name="T29" fmla="*/ 93 h 181"/>
              <a:gd name="T30" fmla="*/ 7 w 92"/>
              <a:gd name="T31" fmla="*/ 136 h 181"/>
              <a:gd name="T32" fmla="*/ 0 w 92"/>
              <a:gd name="T33" fmla="*/ 174 h 181"/>
              <a:gd name="T34" fmla="*/ 0 w 92"/>
              <a:gd name="T35" fmla="*/ 181 h 181"/>
              <a:gd name="T36" fmla="*/ 88 w 92"/>
              <a:gd name="T37" fmla="*/ 181 h 181"/>
              <a:gd name="T38" fmla="*/ 88 w 92"/>
              <a:gd name="T39" fmla="*/ 167 h 181"/>
              <a:gd name="T40" fmla="*/ 14 w 92"/>
              <a:gd name="T41" fmla="*/ 167 h 181"/>
              <a:gd name="T42" fmla="*/ 21 w 92"/>
              <a:gd name="T43" fmla="*/ 139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92" h="181">
                <a:moveTo>
                  <a:pt x="21" y="139"/>
                </a:moveTo>
                <a:cubicBezTo>
                  <a:pt x="27" y="127"/>
                  <a:pt x="37" y="115"/>
                  <a:pt x="52" y="104"/>
                </a:cubicBezTo>
                <a:cubicBezTo>
                  <a:pt x="79" y="84"/>
                  <a:pt x="92" y="65"/>
                  <a:pt x="92" y="46"/>
                </a:cubicBezTo>
                <a:cubicBezTo>
                  <a:pt x="92" y="33"/>
                  <a:pt x="88" y="23"/>
                  <a:pt x="79" y="14"/>
                </a:cubicBezTo>
                <a:cubicBezTo>
                  <a:pt x="70" y="5"/>
                  <a:pt x="59" y="0"/>
                  <a:pt x="47" y="0"/>
                </a:cubicBezTo>
                <a:cubicBezTo>
                  <a:pt x="31" y="0"/>
                  <a:pt x="19" y="6"/>
                  <a:pt x="10" y="18"/>
                </a:cubicBezTo>
                <a:cubicBezTo>
                  <a:pt x="4" y="26"/>
                  <a:pt x="1" y="36"/>
                  <a:pt x="1" y="46"/>
                </a:cubicBezTo>
                <a:cubicBezTo>
                  <a:pt x="1" y="49"/>
                  <a:pt x="1" y="49"/>
                  <a:pt x="1" y="49"/>
                </a:cubicBezTo>
                <a:cubicBezTo>
                  <a:pt x="15" y="49"/>
                  <a:pt x="15" y="49"/>
                  <a:pt x="15" y="49"/>
                </a:cubicBezTo>
                <a:cubicBezTo>
                  <a:pt x="15" y="46"/>
                  <a:pt x="15" y="46"/>
                  <a:pt x="15" y="46"/>
                </a:cubicBezTo>
                <a:cubicBezTo>
                  <a:pt x="15" y="39"/>
                  <a:pt x="17" y="32"/>
                  <a:pt x="21" y="27"/>
                </a:cubicBezTo>
                <a:cubicBezTo>
                  <a:pt x="28" y="18"/>
                  <a:pt x="36" y="14"/>
                  <a:pt x="47" y="14"/>
                </a:cubicBezTo>
                <a:cubicBezTo>
                  <a:pt x="55" y="14"/>
                  <a:pt x="63" y="17"/>
                  <a:pt x="69" y="23"/>
                </a:cubicBezTo>
                <a:cubicBezTo>
                  <a:pt x="75" y="30"/>
                  <a:pt x="78" y="37"/>
                  <a:pt x="78" y="46"/>
                </a:cubicBezTo>
                <a:cubicBezTo>
                  <a:pt x="78" y="60"/>
                  <a:pt x="67" y="76"/>
                  <a:pt x="44" y="93"/>
                </a:cubicBezTo>
                <a:cubicBezTo>
                  <a:pt x="26" y="106"/>
                  <a:pt x="14" y="120"/>
                  <a:pt x="7" y="136"/>
                </a:cubicBezTo>
                <a:cubicBezTo>
                  <a:pt x="3" y="146"/>
                  <a:pt x="0" y="159"/>
                  <a:pt x="0" y="174"/>
                </a:cubicBezTo>
                <a:cubicBezTo>
                  <a:pt x="0" y="181"/>
                  <a:pt x="0" y="181"/>
                  <a:pt x="0" y="181"/>
                </a:cubicBezTo>
                <a:cubicBezTo>
                  <a:pt x="88" y="181"/>
                  <a:pt x="88" y="181"/>
                  <a:pt x="88" y="181"/>
                </a:cubicBezTo>
                <a:cubicBezTo>
                  <a:pt x="88" y="167"/>
                  <a:pt x="88" y="167"/>
                  <a:pt x="88" y="167"/>
                </a:cubicBezTo>
                <a:cubicBezTo>
                  <a:pt x="14" y="167"/>
                  <a:pt x="14" y="167"/>
                  <a:pt x="14" y="167"/>
                </a:cubicBezTo>
                <a:cubicBezTo>
                  <a:pt x="15" y="156"/>
                  <a:pt x="17" y="147"/>
                  <a:pt x="21" y="1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20">
            <a:extLst>
              <a:ext uri="{FF2B5EF4-FFF2-40B4-BE49-F238E27FC236}">
                <a16:creationId xmlns:a16="http://schemas.microsoft.com/office/drawing/2014/main" id="{327DA2E0-6D44-E3D0-A488-0F46FDEFCD44}"/>
              </a:ext>
            </a:extLst>
          </p:cNvPr>
          <p:cNvSpPr>
            <a:spLocks/>
          </p:cNvSpPr>
          <p:nvPr/>
        </p:nvSpPr>
        <p:spPr bwMode="auto">
          <a:xfrm>
            <a:off x="5721897" y="3326474"/>
            <a:ext cx="197884" cy="314160"/>
          </a:xfrm>
          <a:custGeom>
            <a:avLst/>
            <a:gdLst>
              <a:gd name="T0" fmla="*/ 101 w 116"/>
              <a:gd name="T1" fmla="*/ 88 h 184"/>
              <a:gd name="T2" fmla="*/ 70 w 116"/>
              <a:gd name="T3" fmla="*/ 70 h 184"/>
              <a:gd name="T4" fmla="*/ 110 w 116"/>
              <a:gd name="T5" fmla="*/ 12 h 184"/>
              <a:gd name="T6" fmla="*/ 110 w 116"/>
              <a:gd name="T7" fmla="*/ 0 h 184"/>
              <a:gd name="T8" fmla="*/ 9 w 116"/>
              <a:gd name="T9" fmla="*/ 0 h 184"/>
              <a:gd name="T10" fmla="*/ 9 w 116"/>
              <a:gd name="T11" fmla="*/ 14 h 184"/>
              <a:gd name="T12" fmla="*/ 91 w 116"/>
              <a:gd name="T13" fmla="*/ 14 h 184"/>
              <a:gd name="T14" fmla="*/ 52 w 116"/>
              <a:gd name="T15" fmla="*/ 72 h 184"/>
              <a:gd name="T16" fmla="*/ 52 w 116"/>
              <a:gd name="T17" fmla="*/ 82 h 184"/>
              <a:gd name="T18" fmla="*/ 58 w 116"/>
              <a:gd name="T19" fmla="*/ 82 h 184"/>
              <a:gd name="T20" fmla="*/ 89 w 116"/>
              <a:gd name="T21" fmla="*/ 95 h 184"/>
              <a:gd name="T22" fmla="*/ 102 w 116"/>
              <a:gd name="T23" fmla="*/ 126 h 184"/>
              <a:gd name="T24" fmla="*/ 89 w 116"/>
              <a:gd name="T25" fmla="*/ 157 h 184"/>
              <a:gd name="T26" fmla="*/ 58 w 116"/>
              <a:gd name="T27" fmla="*/ 170 h 184"/>
              <a:gd name="T28" fmla="*/ 27 w 116"/>
              <a:gd name="T29" fmla="*/ 157 h 184"/>
              <a:gd name="T30" fmla="*/ 14 w 116"/>
              <a:gd name="T31" fmla="*/ 126 h 184"/>
              <a:gd name="T32" fmla="*/ 14 w 116"/>
              <a:gd name="T33" fmla="*/ 123 h 184"/>
              <a:gd name="T34" fmla="*/ 0 w 116"/>
              <a:gd name="T35" fmla="*/ 123 h 184"/>
              <a:gd name="T36" fmla="*/ 0 w 116"/>
              <a:gd name="T37" fmla="*/ 126 h 184"/>
              <a:gd name="T38" fmla="*/ 17 w 116"/>
              <a:gd name="T39" fmla="*/ 167 h 184"/>
              <a:gd name="T40" fmla="*/ 58 w 116"/>
              <a:gd name="T41" fmla="*/ 184 h 184"/>
              <a:gd name="T42" fmla="*/ 99 w 116"/>
              <a:gd name="T43" fmla="*/ 167 h 184"/>
              <a:gd name="T44" fmla="*/ 116 w 116"/>
              <a:gd name="T45" fmla="*/ 126 h 184"/>
              <a:gd name="T46" fmla="*/ 101 w 116"/>
              <a:gd name="T47" fmla="*/ 88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6" h="184">
                <a:moveTo>
                  <a:pt x="101" y="88"/>
                </a:moveTo>
                <a:cubicBezTo>
                  <a:pt x="93" y="78"/>
                  <a:pt x="83" y="72"/>
                  <a:pt x="70" y="70"/>
                </a:cubicBezTo>
                <a:cubicBezTo>
                  <a:pt x="110" y="12"/>
                  <a:pt x="110" y="12"/>
                  <a:pt x="110" y="12"/>
                </a:cubicBezTo>
                <a:cubicBezTo>
                  <a:pt x="110" y="0"/>
                  <a:pt x="110" y="0"/>
                  <a:pt x="110" y="0"/>
                </a:cubicBezTo>
                <a:cubicBezTo>
                  <a:pt x="9" y="0"/>
                  <a:pt x="9" y="0"/>
                  <a:pt x="9" y="0"/>
                </a:cubicBezTo>
                <a:cubicBezTo>
                  <a:pt x="9" y="14"/>
                  <a:pt x="9" y="14"/>
                  <a:pt x="9" y="14"/>
                </a:cubicBezTo>
                <a:cubicBezTo>
                  <a:pt x="91" y="14"/>
                  <a:pt x="91" y="14"/>
                  <a:pt x="91" y="14"/>
                </a:cubicBezTo>
                <a:cubicBezTo>
                  <a:pt x="52" y="72"/>
                  <a:pt x="52" y="72"/>
                  <a:pt x="52" y="72"/>
                </a:cubicBezTo>
                <a:cubicBezTo>
                  <a:pt x="52" y="82"/>
                  <a:pt x="52" y="82"/>
                  <a:pt x="52" y="82"/>
                </a:cubicBezTo>
                <a:cubicBezTo>
                  <a:pt x="58" y="82"/>
                  <a:pt x="58" y="82"/>
                  <a:pt x="58" y="82"/>
                </a:cubicBezTo>
                <a:cubicBezTo>
                  <a:pt x="70" y="82"/>
                  <a:pt x="80" y="86"/>
                  <a:pt x="89" y="95"/>
                </a:cubicBezTo>
                <a:cubicBezTo>
                  <a:pt x="98" y="104"/>
                  <a:pt x="102" y="114"/>
                  <a:pt x="102" y="126"/>
                </a:cubicBezTo>
                <a:cubicBezTo>
                  <a:pt x="102" y="138"/>
                  <a:pt x="98" y="148"/>
                  <a:pt x="89" y="157"/>
                </a:cubicBezTo>
                <a:cubicBezTo>
                  <a:pt x="80" y="166"/>
                  <a:pt x="70" y="170"/>
                  <a:pt x="58" y="170"/>
                </a:cubicBezTo>
                <a:cubicBezTo>
                  <a:pt x="46" y="170"/>
                  <a:pt x="36" y="166"/>
                  <a:pt x="27" y="157"/>
                </a:cubicBezTo>
                <a:cubicBezTo>
                  <a:pt x="18" y="148"/>
                  <a:pt x="14" y="138"/>
                  <a:pt x="14" y="126"/>
                </a:cubicBezTo>
                <a:cubicBezTo>
                  <a:pt x="14" y="123"/>
                  <a:pt x="14" y="123"/>
                  <a:pt x="14" y="123"/>
                </a:cubicBezTo>
                <a:cubicBezTo>
                  <a:pt x="0" y="123"/>
                  <a:pt x="0" y="123"/>
                  <a:pt x="0" y="123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42"/>
                  <a:pt x="6" y="156"/>
                  <a:pt x="17" y="167"/>
                </a:cubicBezTo>
                <a:cubicBezTo>
                  <a:pt x="28" y="178"/>
                  <a:pt x="42" y="184"/>
                  <a:pt x="58" y="184"/>
                </a:cubicBezTo>
                <a:cubicBezTo>
                  <a:pt x="74" y="184"/>
                  <a:pt x="88" y="178"/>
                  <a:pt x="99" y="167"/>
                </a:cubicBezTo>
                <a:cubicBezTo>
                  <a:pt x="110" y="156"/>
                  <a:pt x="116" y="142"/>
                  <a:pt x="116" y="126"/>
                </a:cubicBezTo>
                <a:cubicBezTo>
                  <a:pt x="116" y="112"/>
                  <a:pt x="111" y="99"/>
                  <a:pt x="101" y="8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21">
            <a:extLst>
              <a:ext uri="{FF2B5EF4-FFF2-40B4-BE49-F238E27FC236}">
                <a16:creationId xmlns:a16="http://schemas.microsoft.com/office/drawing/2014/main" id="{D6EA1259-52CA-3F72-29FF-EEB65737EC51}"/>
              </a:ext>
            </a:extLst>
          </p:cNvPr>
          <p:cNvSpPr>
            <a:spLocks noEditPoints="1"/>
          </p:cNvSpPr>
          <p:nvPr/>
        </p:nvSpPr>
        <p:spPr bwMode="auto">
          <a:xfrm>
            <a:off x="6290996" y="3329363"/>
            <a:ext cx="153108" cy="307660"/>
          </a:xfrm>
          <a:custGeom>
            <a:avLst/>
            <a:gdLst>
              <a:gd name="T0" fmla="*/ 170 w 212"/>
              <a:gd name="T1" fmla="*/ 0 h 426"/>
              <a:gd name="T2" fmla="*/ 0 w 212"/>
              <a:gd name="T3" fmla="*/ 298 h 426"/>
              <a:gd name="T4" fmla="*/ 0 w 212"/>
              <a:gd name="T5" fmla="*/ 327 h 426"/>
              <a:gd name="T6" fmla="*/ 179 w 212"/>
              <a:gd name="T7" fmla="*/ 327 h 426"/>
              <a:gd name="T8" fmla="*/ 179 w 212"/>
              <a:gd name="T9" fmla="*/ 426 h 426"/>
              <a:gd name="T10" fmla="*/ 212 w 212"/>
              <a:gd name="T11" fmla="*/ 426 h 426"/>
              <a:gd name="T12" fmla="*/ 212 w 212"/>
              <a:gd name="T13" fmla="*/ 0 h 426"/>
              <a:gd name="T14" fmla="*/ 170 w 212"/>
              <a:gd name="T15" fmla="*/ 0 h 426"/>
              <a:gd name="T16" fmla="*/ 40 w 212"/>
              <a:gd name="T17" fmla="*/ 294 h 426"/>
              <a:gd name="T18" fmla="*/ 179 w 212"/>
              <a:gd name="T19" fmla="*/ 52 h 426"/>
              <a:gd name="T20" fmla="*/ 179 w 212"/>
              <a:gd name="T21" fmla="*/ 294 h 426"/>
              <a:gd name="T22" fmla="*/ 40 w 212"/>
              <a:gd name="T23" fmla="*/ 294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12" h="426">
                <a:moveTo>
                  <a:pt x="170" y="0"/>
                </a:moveTo>
                <a:lnTo>
                  <a:pt x="0" y="298"/>
                </a:lnTo>
                <a:lnTo>
                  <a:pt x="0" y="327"/>
                </a:lnTo>
                <a:lnTo>
                  <a:pt x="179" y="327"/>
                </a:lnTo>
                <a:lnTo>
                  <a:pt x="179" y="426"/>
                </a:lnTo>
                <a:lnTo>
                  <a:pt x="212" y="426"/>
                </a:lnTo>
                <a:lnTo>
                  <a:pt x="212" y="0"/>
                </a:lnTo>
                <a:lnTo>
                  <a:pt x="170" y="0"/>
                </a:lnTo>
                <a:close/>
                <a:moveTo>
                  <a:pt x="40" y="294"/>
                </a:moveTo>
                <a:lnTo>
                  <a:pt x="179" y="52"/>
                </a:lnTo>
                <a:lnTo>
                  <a:pt x="179" y="294"/>
                </a:lnTo>
                <a:lnTo>
                  <a:pt x="40" y="2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22">
            <a:extLst>
              <a:ext uri="{FF2B5EF4-FFF2-40B4-BE49-F238E27FC236}">
                <a16:creationId xmlns:a16="http://schemas.microsoft.com/office/drawing/2014/main" id="{78411D69-9FE0-0E61-686C-65A9CE5BDB5F}"/>
              </a:ext>
            </a:extLst>
          </p:cNvPr>
          <p:cNvSpPr>
            <a:spLocks/>
          </p:cNvSpPr>
          <p:nvPr/>
        </p:nvSpPr>
        <p:spPr bwMode="auto">
          <a:xfrm>
            <a:off x="6732986" y="3734520"/>
            <a:ext cx="213773" cy="314160"/>
          </a:xfrm>
          <a:custGeom>
            <a:avLst/>
            <a:gdLst>
              <a:gd name="T0" fmla="*/ 106 w 125"/>
              <a:gd name="T1" fmla="*/ 77 h 184"/>
              <a:gd name="T2" fmla="*/ 62 w 125"/>
              <a:gd name="T3" fmla="*/ 59 h 184"/>
              <a:gd name="T4" fmla="*/ 22 w 125"/>
              <a:gd name="T5" fmla="*/ 59 h 184"/>
              <a:gd name="T6" fmla="*/ 22 w 125"/>
              <a:gd name="T7" fmla="*/ 14 h 184"/>
              <a:gd name="T8" fmla="*/ 109 w 125"/>
              <a:gd name="T9" fmla="*/ 14 h 184"/>
              <a:gd name="T10" fmla="*/ 109 w 125"/>
              <a:gd name="T11" fmla="*/ 0 h 184"/>
              <a:gd name="T12" fmla="*/ 8 w 125"/>
              <a:gd name="T13" fmla="*/ 0 h 184"/>
              <a:gd name="T14" fmla="*/ 8 w 125"/>
              <a:gd name="T15" fmla="*/ 73 h 184"/>
              <a:gd name="T16" fmla="*/ 62 w 125"/>
              <a:gd name="T17" fmla="*/ 73 h 184"/>
              <a:gd name="T18" fmla="*/ 96 w 125"/>
              <a:gd name="T19" fmla="*/ 87 h 184"/>
              <a:gd name="T20" fmla="*/ 111 w 125"/>
              <a:gd name="T21" fmla="*/ 121 h 184"/>
              <a:gd name="T22" fmla="*/ 97 w 125"/>
              <a:gd name="T23" fmla="*/ 155 h 184"/>
              <a:gd name="T24" fmla="*/ 62 w 125"/>
              <a:gd name="T25" fmla="*/ 170 h 184"/>
              <a:gd name="T26" fmla="*/ 28 w 125"/>
              <a:gd name="T27" fmla="*/ 156 h 184"/>
              <a:gd name="T28" fmla="*/ 14 w 125"/>
              <a:gd name="T29" fmla="*/ 122 h 184"/>
              <a:gd name="T30" fmla="*/ 14 w 125"/>
              <a:gd name="T31" fmla="*/ 119 h 184"/>
              <a:gd name="T32" fmla="*/ 0 w 125"/>
              <a:gd name="T33" fmla="*/ 119 h 184"/>
              <a:gd name="T34" fmla="*/ 0 w 125"/>
              <a:gd name="T35" fmla="*/ 122 h 184"/>
              <a:gd name="T36" fmla="*/ 18 w 125"/>
              <a:gd name="T37" fmla="*/ 165 h 184"/>
              <a:gd name="T38" fmla="*/ 62 w 125"/>
              <a:gd name="T39" fmla="*/ 184 h 184"/>
              <a:gd name="T40" fmla="*/ 63 w 125"/>
              <a:gd name="T41" fmla="*/ 184 h 184"/>
              <a:gd name="T42" fmla="*/ 63 w 125"/>
              <a:gd name="T43" fmla="*/ 184 h 184"/>
              <a:gd name="T44" fmla="*/ 107 w 125"/>
              <a:gd name="T45" fmla="*/ 165 h 184"/>
              <a:gd name="T46" fmla="*/ 125 w 125"/>
              <a:gd name="T47" fmla="*/ 121 h 184"/>
              <a:gd name="T48" fmla="*/ 106 w 125"/>
              <a:gd name="T49" fmla="*/ 77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5" h="184">
                <a:moveTo>
                  <a:pt x="106" y="77"/>
                </a:moveTo>
                <a:cubicBezTo>
                  <a:pt x="94" y="65"/>
                  <a:pt x="79" y="59"/>
                  <a:pt x="62" y="59"/>
                </a:cubicBezTo>
                <a:cubicBezTo>
                  <a:pt x="22" y="59"/>
                  <a:pt x="22" y="59"/>
                  <a:pt x="22" y="59"/>
                </a:cubicBezTo>
                <a:cubicBezTo>
                  <a:pt x="22" y="14"/>
                  <a:pt x="22" y="14"/>
                  <a:pt x="22" y="14"/>
                </a:cubicBezTo>
                <a:cubicBezTo>
                  <a:pt x="109" y="14"/>
                  <a:pt x="109" y="14"/>
                  <a:pt x="109" y="14"/>
                </a:cubicBezTo>
                <a:cubicBezTo>
                  <a:pt x="109" y="0"/>
                  <a:pt x="109" y="0"/>
                  <a:pt x="109" y="0"/>
                </a:cubicBezTo>
                <a:cubicBezTo>
                  <a:pt x="8" y="0"/>
                  <a:pt x="8" y="0"/>
                  <a:pt x="8" y="0"/>
                </a:cubicBezTo>
                <a:cubicBezTo>
                  <a:pt x="8" y="73"/>
                  <a:pt x="8" y="73"/>
                  <a:pt x="8" y="73"/>
                </a:cubicBezTo>
                <a:cubicBezTo>
                  <a:pt x="62" y="73"/>
                  <a:pt x="62" y="73"/>
                  <a:pt x="62" y="73"/>
                </a:cubicBezTo>
                <a:cubicBezTo>
                  <a:pt x="75" y="73"/>
                  <a:pt x="87" y="77"/>
                  <a:pt x="96" y="87"/>
                </a:cubicBezTo>
                <a:cubicBezTo>
                  <a:pt x="106" y="96"/>
                  <a:pt x="111" y="108"/>
                  <a:pt x="111" y="121"/>
                </a:cubicBezTo>
                <a:cubicBezTo>
                  <a:pt x="111" y="134"/>
                  <a:pt x="106" y="146"/>
                  <a:pt x="97" y="155"/>
                </a:cubicBezTo>
                <a:cubicBezTo>
                  <a:pt x="87" y="165"/>
                  <a:pt x="76" y="170"/>
                  <a:pt x="62" y="170"/>
                </a:cubicBezTo>
                <a:cubicBezTo>
                  <a:pt x="49" y="170"/>
                  <a:pt x="38" y="165"/>
                  <a:pt x="28" y="156"/>
                </a:cubicBezTo>
                <a:cubicBezTo>
                  <a:pt x="19" y="146"/>
                  <a:pt x="14" y="135"/>
                  <a:pt x="14" y="122"/>
                </a:cubicBezTo>
                <a:cubicBezTo>
                  <a:pt x="14" y="119"/>
                  <a:pt x="14" y="119"/>
                  <a:pt x="14" y="119"/>
                </a:cubicBezTo>
                <a:cubicBezTo>
                  <a:pt x="0" y="119"/>
                  <a:pt x="0" y="119"/>
                  <a:pt x="0" y="119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39"/>
                  <a:pt x="6" y="153"/>
                  <a:pt x="18" y="165"/>
                </a:cubicBezTo>
                <a:cubicBezTo>
                  <a:pt x="30" y="178"/>
                  <a:pt x="45" y="184"/>
                  <a:pt x="62" y="184"/>
                </a:cubicBezTo>
                <a:cubicBezTo>
                  <a:pt x="63" y="184"/>
                  <a:pt x="63" y="184"/>
                  <a:pt x="63" y="184"/>
                </a:cubicBezTo>
                <a:cubicBezTo>
                  <a:pt x="63" y="184"/>
                  <a:pt x="63" y="184"/>
                  <a:pt x="63" y="184"/>
                </a:cubicBezTo>
                <a:cubicBezTo>
                  <a:pt x="80" y="184"/>
                  <a:pt x="95" y="177"/>
                  <a:pt x="107" y="165"/>
                </a:cubicBezTo>
                <a:cubicBezTo>
                  <a:pt x="119" y="153"/>
                  <a:pt x="125" y="138"/>
                  <a:pt x="125" y="121"/>
                </a:cubicBezTo>
                <a:cubicBezTo>
                  <a:pt x="125" y="104"/>
                  <a:pt x="118" y="89"/>
                  <a:pt x="106" y="7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Freeform 23">
            <a:extLst>
              <a:ext uri="{FF2B5EF4-FFF2-40B4-BE49-F238E27FC236}">
                <a16:creationId xmlns:a16="http://schemas.microsoft.com/office/drawing/2014/main" id="{47762AC9-1D2A-5AD6-E8C3-1FDB774EF808}"/>
              </a:ext>
            </a:extLst>
          </p:cNvPr>
          <p:cNvSpPr>
            <a:spLocks noEditPoints="1"/>
          </p:cNvSpPr>
          <p:nvPr/>
        </p:nvSpPr>
        <p:spPr bwMode="auto">
          <a:xfrm>
            <a:off x="6695431" y="4339006"/>
            <a:ext cx="225328" cy="319215"/>
          </a:xfrm>
          <a:custGeom>
            <a:avLst/>
            <a:gdLst>
              <a:gd name="T0" fmla="*/ 127 w 132"/>
              <a:gd name="T1" fmla="*/ 106 h 187"/>
              <a:gd name="T2" fmla="*/ 97 w 132"/>
              <a:gd name="T3" fmla="*/ 68 h 187"/>
              <a:gd name="T4" fmla="*/ 66 w 132"/>
              <a:gd name="T5" fmla="*/ 60 h 187"/>
              <a:gd name="T6" fmla="*/ 43 w 132"/>
              <a:gd name="T7" fmla="*/ 64 h 187"/>
              <a:gd name="T8" fmla="*/ 79 w 132"/>
              <a:gd name="T9" fmla="*/ 0 h 187"/>
              <a:gd name="T10" fmla="*/ 63 w 132"/>
              <a:gd name="T11" fmla="*/ 0 h 187"/>
              <a:gd name="T12" fmla="*/ 11 w 132"/>
              <a:gd name="T13" fmla="*/ 92 h 187"/>
              <a:gd name="T14" fmla="*/ 5 w 132"/>
              <a:gd name="T15" fmla="*/ 140 h 187"/>
              <a:gd name="T16" fmla="*/ 35 w 132"/>
              <a:gd name="T17" fmla="*/ 178 h 187"/>
              <a:gd name="T18" fmla="*/ 66 w 132"/>
              <a:gd name="T19" fmla="*/ 187 h 187"/>
              <a:gd name="T20" fmla="*/ 98 w 132"/>
              <a:gd name="T21" fmla="*/ 178 h 187"/>
              <a:gd name="T22" fmla="*/ 121 w 132"/>
              <a:gd name="T23" fmla="*/ 154 h 187"/>
              <a:gd name="T24" fmla="*/ 127 w 132"/>
              <a:gd name="T25" fmla="*/ 106 h 187"/>
              <a:gd name="T26" fmla="*/ 66 w 132"/>
              <a:gd name="T27" fmla="*/ 172 h 187"/>
              <a:gd name="T28" fmla="*/ 42 w 132"/>
              <a:gd name="T29" fmla="*/ 166 h 187"/>
              <a:gd name="T30" fmla="*/ 19 w 132"/>
              <a:gd name="T31" fmla="*/ 136 h 187"/>
              <a:gd name="T32" fmla="*/ 23 w 132"/>
              <a:gd name="T33" fmla="*/ 99 h 187"/>
              <a:gd name="T34" fmla="*/ 41 w 132"/>
              <a:gd name="T35" fmla="*/ 81 h 187"/>
              <a:gd name="T36" fmla="*/ 66 w 132"/>
              <a:gd name="T37" fmla="*/ 74 h 187"/>
              <a:gd name="T38" fmla="*/ 90 w 132"/>
              <a:gd name="T39" fmla="*/ 80 h 187"/>
              <a:gd name="T40" fmla="*/ 114 w 132"/>
              <a:gd name="T41" fmla="*/ 110 h 187"/>
              <a:gd name="T42" fmla="*/ 109 w 132"/>
              <a:gd name="T43" fmla="*/ 148 h 187"/>
              <a:gd name="T44" fmla="*/ 91 w 132"/>
              <a:gd name="T45" fmla="*/ 166 h 187"/>
              <a:gd name="T46" fmla="*/ 66 w 132"/>
              <a:gd name="T47" fmla="*/ 172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32" h="187">
                <a:moveTo>
                  <a:pt x="127" y="106"/>
                </a:moveTo>
                <a:cubicBezTo>
                  <a:pt x="123" y="89"/>
                  <a:pt x="113" y="77"/>
                  <a:pt x="97" y="68"/>
                </a:cubicBezTo>
                <a:cubicBezTo>
                  <a:pt x="88" y="63"/>
                  <a:pt x="77" y="60"/>
                  <a:pt x="66" y="60"/>
                </a:cubicBezTo>
                <a:cubicBezTo>
                  <a:pt x="58" y="60"/>
                  <a:pt x="50" y="61"/>
                  <a:pt x="43" y="64"/>
                </a:cubicBezTo>
                <a:cubicBezTo>
                  <a:pt x="79" y="0"/>
                  <a:pt x="79" y="0"/>
                  <a:pt x="79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11" y="92"/>
                  <a:pt x="11" y="92"/>
                  <a:pt x="11" y="92"/>
                </a:cubicBezTo>
                <a:cubicBezTo>
                  <a:pt x="2" y="107"/>
                  <a:pt x="0" y="123"/>
                  <a:pt x="5" y="140"/>
                </a:cubicBezTo>
                <a:cubicBezTo>
                  <a:pt x="10" y="157"/>
                  <a:pt x="20" y="170"/>
                  <a:pt x="35" y="178"/>
                </a:cubicBezTo>
                <a:cubicBezTo>
                  <a:pt x="45" y="184"/>
                  <a:pt x="55" y="187"/>
                  <a:pt x="66" y="187"/>
                </a:cubicBezTo>
                <a:cubicBezTo>
                  <a:pt x="77" y="187"/>
                  <a:pt x="88" y="184"/>
                  <a:pt x="98" y="178"/>
                </a:cubicBezTo>
                <a:cubicBezTo>
                  <a:pt x="108" y="172"/>
                  <a:pt x="116" y="164"/>
                  <a:pt x="121" y="154"/>
                </a:cubicBezTo>
                <a:cubicBezTo>
                  <a:pt x="130" y="139"/>
                  <a:pt x="132" y="123"/>
                  <a:pt x="127" y="106"/>
                </a:cubicBezTo>
                <a:close/>
                <a:moveTo>
                  <a:pt x="66" y="172"/>
                </a:moveTo>
                <a:cubicBezTo>
                  <a:pt x="57" y="172"/>
                  <a:pt x="49" y="170"/>
                  <a:pt x="42" y="166"/>
                </a:cubicBezTo>
                <a:cubicBezTo>
                  <a:pt x="30" y="159"/>
                  <a:pt x="22" y="150"/>
                  <a:pt x="19" y="136"/>
                </a:cubicBezTo>
                <a:cubicBezTo>
                  <a:pt x="15" y="123"/>
                  <a:pt x="16" y="111"/>
                  <a:pt x="23" y="99"/>
                </a:cubicBezTo>
                <a:cubicBezTo>
                  <a:pt x="28" y="91"/>
                  <a:pt x="34" y="85"/>
                  <a:pt x="41" y="81"/>
                </a:cubicBezTo>
                <a:cubicBezTo>
                  <a:pt x="49" y="76"/>
                  <a:pt x="57" y="74"/>
                  <a:pt x="66" y="74"/>
                </a:cubicBezTo>
                <a:cubicBezTo>
                  <a:pt x="75" y="74"/>
                  <a:pt x="83" y="76"/>
                  <a:pt x="90" y="80"/>
                </a:cubicBezTo>
                <a:cubicBezTo>
                  <a:pt x="102" y="87"/>
                  <a:pt x="110" y="97"/>
                  <a:pt x="114" y="110"/>
                </a:cubicBezTo>
                <a:cubicBezTo>
                  <a:pt x="117" y="123"/>
                  <a:pt x="116" y="136"/>
                  <a:pt x="109" y="148"/>
                </a:cubicBezTo>
                <a:cubicBezTo>
                  <a:pt x="105" y="155"/>
                  <a:pt x="99" y="161"/>
                  <a:pt x="91" y="166"/>
                </a:cubicBezTo>
                <a:cubicBezTo>
                  <a:pt x="83" y="170"/>
                  <a:pt x="75" y="172"/>
                  <a:pt x="66" y="1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" name="Freeform 9">
            <a:extLst>
              <a:ext uri="{FF2B5EF4-FFF2-40B4-BE49-F238E27FC236}">
                <a16:creationId xmlns:a16="http://schemas.microsoft.com/office/drawing/2014/main" id="{F560EDA4-3ED7-1CFC-EA34-7C03E8922453}"/>
              </a:ext>
            </a:extLst>
          </p:cNvPr>
          <p:cNvSpPr>
            <a:spLocks noEditPoints="1"/>
          </p:cNvSpPr>
          <p:nvPr/>
        </p:nvSpPr>
        <p:spPr bwMode="auto">
          <a:xfrm>
            <a:off x="3310939" y="3628744"/>
            <a:ext cx="295275" cy="295275"/>
          </a:xfrm>
          <a:custGeom>
            <a:avLst/>
            <a:gdLst>
              <a:gd name="T0" fmla="*/ 74 w 147"/>
              <a:gd name="T1" fmla="*/ 147 h 147"/>
              <a:gd name="T2" fmla="*/ 0 w 147"/>
              <a:gd name="T3" fmla="*/ 74 h 147"/>
              <a:gd name="T4" fmla="*/ 74 w 147"/>
              <a:gd name="T5" fmla="*/ 0 h 147"/>
              <a:gd name="T6" fmla="*/ 147 w 147"/>
              <a:gd name="T7" fmla="*/ 74 h 147"/>
              <a:gd name="T8" fmla="*/ 74 w 147"/>
              <a:gd name="T9" fmla="*/ 147 h 147"/>
              <a:gd name="T10" fmla="*/ 74 w 147"/>
              <a:gd name="T11" fmla="*/ 16 h 147"/>
              <a:gd name="T12" fmla="*/ 16 w 147"/>
              <a:gd name="T13" fmla="*/ 74 h 147"/>
              <a:gd name="T14" fmla="*/ 74 w 147"/>
              <a:gd name="T15" fmla="*/ 131 h 147"/>
              <a:gd name="T16" fmla="*/ 131 w 147"/>
              <a:gd name="T17" fmla="*/ 74 h 147"/>
              <a:gd name="T18" fmla="*/ 74 w 147"/>
              <a:gd name="T19" fmla="*/ 16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7" h="147">
                <a:moveTo>
                  <a:pt x="74" y="147"/>
                </a:moveTo>
                <a:cubicBezTo>
                  <a:pt x="33" y="147"/>
                  <a:pt x="0" y="114"/>
                  <a:pt x="0" y="74"/>
                </a:cubicBezTo>
                <a:cubicBezTo>
                  <a:pt x="0" y="33"/>
                  <a:pt x="33" y="0"/>
                  <a:pt x="74" y="0"/>
                </a:cubicBezTo>
                <a:cubicBezTo>
                  <a:pt x="114" y="0"/>
                  <a:pt x="147" y="33"/>
                  <a:pt x="147" y="74"/>
                </a:cubicBezTo>
                <a:cubicBezTo>
                  <a:pt x="147" y="114"/>
                  <a:pt x="114" y="147"/>
                  <a:pt x="74" y="147"/>
                </a:cubicBezTo>
                <a:close/>
                <a:moveTo>
                  <a:pt x="74" y="16"/>
                </a:moveTo>
                <a:cubicBezTo>
                  <a:pt x="42" y="16"/>
                  <a:pt x="16" y="42"/>
                  <a:pt x="16" y="74"/>
                </a:cubicBezTo>
                <a:cubicBezTo>
                  <a:pt x="16" y="105"/>
                  <a:pt x="42" y="131"/>
                  <a:pt x="74" y="131"/>
                </a:cubicBezTo>
                <a:cubicBezTo>
                  <a:pt x="106" y="131"/>
                  <a:pt x="131" y="105"/>
                  <a:pt x="131" y="74"/>
                </a:cubicBezTo>
                <a:cubicBezTo>
                  <a:pt x="131" y="42"/>
                  <a:pt x="106" y="16"/>
                  <a:pt x="74" y="16"/>
                </a:cubicBezTo>
                <a:close/>
              </a:path>
            </a:pathLst>
          </a:custGeom>
          <a:solidFill>
            <a:srgbClr val="2C868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B5D241"/>
              </a:solidFill>
            </a:endParaRPr>
          </a:p>
        </p:txBody>
      </p:sp>
      <p:sp>
        <p:nvSpPr>
          <p:cNvPr id="130" name="Freeform 10">
            <a:extLst>
              <a:ext uri="{FF2B5EF4-FFF2-40B4-BE49-F238E27FC236}">
                <a16:creationId xmlns:a16="http://schemas.microsoft.com/office/drawing/2014/main" id="{572BDE74-73C7-A3E5-B516-880260745EE9}"/>
              </a:ext>
            </a:extLst>
          </p:cNvPr>
          <p:cNvSpPr>
            <a:spLocks noEditPoints="1"/>
          </p:cNvSpPr>
          <p:nvPr/>
        </p:nvSpPr>
        <p:spPr bwMode="auto">
          <a:xfrm>
            <a:off x="3310939" y="4797304"/>
            <a:ext cx="295275" cy="293688"/>
          </a:xfrm>
          <a:custGeom>
            <a:avLst/>
            <a:gdLst>
              <a:gd name="T0" fmla="*/ 74 w 147"/>
              <a:gd name="T1" fmla="*/ 146 h 146"/>
              <a:gd name="T2" fmla="*/ 0 w 147"/>
              <a:gd name="T3" fmla="*/ 73 h 146"/>
              <a:gd name="T4" fmla="*/ 74 w 147"/>
              <a:gd name="T5" fmla="*/ 0 h 146"/>
              <a:gd name="T6" fmla="*/ 147 w 147"/>
              <a:gd name="T7" fmla="*/ 73 h 146"/>
              <a:gd name="T8" fmla="*/ 74 w 147"/>
              <a:gd name="T9" fmla="*/ 146 h 146"/>
              <a:gd name="T10" fmla="*/ 74 w 147"/>
              <a:gd name="T11" fmla="*/ 16 h 146"/>
              <a:gd name="T12" fmla="*/ 16 w 147"/>
              <a:gd name="T13" fmla="*/ 73 h 146"/>
              <a:gd name="T14" fmla="*/ 74 w 147"/>
              <a:gd name="T15" fmla="*/ 130 h 146"/>
              <a:gd name="T16" fmla="*/ 131 w 147"/>
              <a:gd name="T17" fmla="*/ 73 h 146"/>
              <a:gd name="T18" fmla="*/ 74 w 147"/>
              <a:gd name="T19" fmla="*/ 16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7" h="146">
                <a:moveTo>
                  <a:pt x="74" y="146"/>
                </a:moveTo>
                <a:cubicBezTo>
                  <a:pt x="33" y="146"/>
                  <a:pt x="0" y="114"/>
                  <a:pt x="0" y="73"/>
                </a:cubicBezTo>
                <a:cubicBezTo>
                  <a:pt x="0" y="33"/>
                  <a:pt x="33" y="0"/>
                  <a:pt x="74" y="0"/>
                </a:cubicBezTo>
                <a:cubicBezTo>
                  <a:pt x="114" y="0"/>
                  <a:pt x="147" y="33"/>
                  <a:pt x="147" y="73"/>
                </a:cubicBezTo>
                <a:cubicBezTo>
                  <a:pt x="147" y="114"/>
                  <a:pt x="114" y="146"/>
                  <a:pt x="74" y="146"/>
                </a:cubicBezTo>
                <a:close/>
                <a:moveTo>
                  <a:pt x="74" y="16"/>
                </a:moveTo>
                <a:cubicBezTo>
                  <a:pt x="42" y="16"/>
                  <a:pt x="16" y="41"/>
                  <a:pt x="16" y="73"/>
                </a:cubicBezTo>
                <a:cubicBezTo>
                  <a:pt x="16" y="105"/>
                  <a:pt x="42" y="130"/>
                  <a:pt x="74" y="130"/>
                </a:cubicBezTo>
                <a:cubicBezTo>
                  <a:pt x="106" y="130"/>
                  <a:pt x="131" y="105"/>
                  <a:pt x="131" y="73"/>
                </a:cubicBezTo>
                <a:cubicBezTo>
                  <a:pt x="131" y="41"/>
                  <a:pt x="106" y="16"/>
                  <a:pt x="74" y="16"/>
                </a:cubicBezTo>
                <a:close/>
              </a:path>
            </a:pathLst>
          </a:custGeom>
          <a:solidFill>
            <a:srgbClr val="47718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96B19031-34E6-830C-C948-9E59795F13AF}"/>
              </a:ext>
            </a:extLst>
          </p:cNvPr>
          <p:cNvSpPr txBox="1"/>
          <p:nvPr/>
        </p:nvSpPr>
        <p:spPr>
          <a:xfrm>
            <a:off x="502634" y="3508521"/>
            <a:ext cx="2856518" cy="801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微信视频号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上海活力组织研究院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91940F3F-DB05-5B73-D03D-D3D0B8E1146D}"/>
              </a:ext>
            </a:extLst>
          </p:cNvPr>
          <p:cNvSpPr txBox="1"/>
          <p:nvPr/>
        </p:nvSpPr>
        <p:spPr>
          <a:xfrm>
            <a:off x="502634" y="4663652"/>
            <a:ext cx="2856518" cy="801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微信公众号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上海活力组织研究院</a:t>
            </a:r>
          </a:p>
        </p:txBody>
      </p:sp>
      <p:sp>
        <p:nvSpPr>
          <p:cNvPr id="133" name="Freeform 9">
            <a:extLst>
              <a:ext uri="{FF2B5EF4-FFF2-40B4-BE49-F238E27FC236}">
                <a16:creationId xmlns:a16="http://schemas.microsoft.com/office/drawing/2014/main" id="{0A3E0BB3-7FDC-A5EC-5039-8902CA1C0F51}"/>
              </a:ext>
            </a:extLst>
          </p:cNvPr>
          <p:cNvSpPr>
            <a:spLocks noEditPoints="1"/>
          </p:cNvSpPr>
          <p:nvPr/>
        </p:nvSpPr>
        <p:spPr bwMode="auto">
          <a:xfrm>
            <a:off x="3310939" y="2431409"/>
            <a:ext cx="295275" cy="295275"/>
          </a:xfrm>
          <a:custGeom>
            <a:avLst/>
            <a:gdLst>
              <a:gd name="T0" fmla="*/ 74 w 147"/>
              <a:gd name="T1" fmla="*/ 147 h 147"/>
              <a:gd name="T2" fmla="*/ 0 w 147"/>
              <a:gd name="T3" fmla="*/ 74 h 147"/>
              <a:gd name="T4" fmla="*/ 74 w 147"/>
              <a:gd name="T5" fmla="*/ 0 h 147"/>
              <a:gd name="T6" fmla="*/ 147 w 147"/>
              <a:gd name="T7" fmla="*/ 74 h 147"/>
              <a:gd name="T8" fmla="*/ 74 w 147"/>
              <a:gd name="T9" fmla="*/ 147 h 147"/>
              <a:gd name="T10" fmla="*/ 74 w 147"/>
              <a:gd name="T11" fmla="*/ 16 h 147"/>
              <a:gd name="T12" fmla="*/ 16 w 147"/>
              <a:gd name="T13" fmla="*/ 74 h 147"/>
              <a:gd name="T14" fmla="*/ 74 w 147"/>
              <a:gd name="T15" fmla="*/ 131 h 147"/>
              <a:gd name="T16" fmla="*/ 131 w 147"/>
              <a:gd name="T17" fmla="*/ 74 h 147"/>
              <a:gd name="T18" fmla="*/ 74 w 147"/>
              <a:gd name="T19" fmla="*/ 16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7" h="147">
                <a:moveTo>
                  <a:pt x="74" y="147"/>
                </a:moveTo>
                <a:cubicBezTo>
                  <a:pt x="33" y="147"/>
                  <a:pt x="0" y="114"/>
                  <a:pt x="0" y="74"/>
                </a:cubicBezTo>
                <a:cubicBezTo>
                  <a:pt x="0" y="33"/>
                  <a:pt x="33" y="0"/>
                  <a:pt x="74" y="0"/>
                </a:cubicBezTo>
                <a:cubicBezTo>
                  <a:pt x="114" y="0"/>
                  <a:pt x="147" y="33"/>
                  <a:pt x="147" y="74"/>
                </a:cubicBezTo>
                <a:cubicBezTo>
                  <a:pt x="147" y="114"/>
                  <a:pt x="114" y="147"/>
                  <a:pt x="74" y="147"/>
                </a:cubicBezTo>
                <a:close/>
                <a:moveTo>
                  <a:pt x="74" y="16"/>
                </a:moveTo>
                <a:cubicBezTo>
                  <a:pt x="42" y="16"/>
                  <a:pt x="16" y="42"/>
                  <a:pt x="16" y="74"/>
                </a:cubicBezTo>
                <a:cubicBezTo>
                  <a:pt x="16" y="105"/>
                  <a:pt x="42" y="131"/>
                  <a:pt x="74" y="131"/>
                </a:cubicBezTo>
                <a:cubicBezTo>
                  <a:pt x="106" y="131"/>
                  <a:pt x="131" y="105"/>
                  <a:pt x="131" y="74"/>
                </a:cubicBezTo>
                <a:cubicBezTo>
                  <a:pt x="131" y="42"/>
                  <a:pt x="106" y="16"/>
                  <a:pt x="74" y="16"/>
                </a:cubicBezTo>
                <a:close/>
              </a:path>
            </a:pathLst>
          </a:custGeom>
          <a:solidFill>
            <a:srgbClr val="A4A3A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A8110851-0D24-2BF1-42D3-F7EB9C4D81C1}"/>
              </a:ext>
            </a:extLst>
          </p:cNvPr>
          <p:cNvSpPr txBox="1"/>
          <p:nvPr/>
        </p:nvSpPr>
        <p:spPr>
          <a:xfrm>
            <a:off x="502634" y="2311186"/>
            <a:ext cx="2856518" cy="805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抖音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杨少文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上海活力组织研究院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30E622C-8BB2-F83F-8ACF-7AB39997F909}"/>
              </a:ext>
            </a:extLst>
          </p:cNvPr>
          <p:cNvSpPr txBox="1"/>
          <p:nvPr/>
        </p:nvSpPr>
        <p:spPr>
          <a:xfrm>
            <a:off x="8874326" y="4663652"/>
            <a:ext cx="2856518" cy="801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今日头条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杨少文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上海活力组织研究院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2F5B6C43-72BA-FD71-B9F0-9FFBB3CB568C}"/>
              </a:ext>
            </a:extLst>
          </p:cNvPr>
          <p:cNvSpPr txBox="1"/>
          <p:nvPr/>
        </p:nvSpPr>
        <p:spPr>
          <a:xfrm>
            <a:off x="8874326" y="3508521"/>
            <a:ext cx="2856518" cy="805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快手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杨少文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趋势创富</a:t>
            </a:r>
          </a:p>
        </p:txBody>
      </p:sp>
      <p:sp>
        <p:nvSpPr>
          <p:cNvPr id="137" name="Freeform 9">
            <a:extLst>
              <a:ext uri="{FF2B5EF4-FFF2-40B4-BE49-F238E27FC236}">
                <a16:creationId xmlns:a16="http://schemas.microsoft.com/office/drawing/2014/main" id="{B1ADDF79-EA68-DD71-15EE-99DA5B47299A}"/>
              </a:ext>
            </a:extLst>
          </p:cNvPr>
          <p:cNvSpPr>
            <a:spLocks noEditPoints="1"/>
          </p:cNvSpPr>
          <p:nvPr/>
        </p:nvSpPr>
        <p:spPr bwMode="auto">
          <a:xfrm>
            <a:off x="8613692" y="3628744"/>
            <a:ext cx="295275" cy="295275"/>
          </a:xfrm>
          <a:custGeom>
            <a:avLst/>
            <a:gdLst>
              <a:gd name="T0" fmla="*/ 74 w 147"/>
              <a:gd name="T1" fmla="*/ 147 h 147"/>
              <a:gd name="T2" fmla="*/ 0 w 147"/>
              <a:gd name="T3" fmla="*/ 74 h 147"/>
              <a:gd name="T4" fmla="*/ 74 w 147"/>
              <a:gd name="T5" fmla="*/ 0 h 147"/>
              <a:gd name="T6" fmla="*/ 147 w 147"/>
              <a:gd name="T7" fmla="*/ 74 h 147"/>
              <a:gd name="T8" fmla="*/ 74 w 147"/>
              <a:gd name="T9" fmla="*/ 147 h 147"/>
              <a:gd name="T10" fmla="*/ 74 w 147"/>
              <a:gd name="T11" fmla="*/ 16 h 147"/>
              <a:gd name="T12" fmla="*/ 16 w 147"/>
              <a:gd name="T13" fmla="*/ 74 h 147"/>
              <a:gd name="T14" fmla="*/ 74 w 147"/>
              <a:gd name="T15" fmla="*/ 131 h 147"/>
              <a:gd name="T16" fmla="*/ 131 w 147"/>
              <a:gd name="T17" fmla="*/ 74 h 147"/>
              <a:gd name="T18" fmla="*/ 74 w 147"/>
              <a:gd name="T19" fmla="*/ 16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7" h="147">
                <a:moveTo>
                  <a:pt x="74" y="147"/>
                </a:moveTo>
                <a:cubicBezTo>
                  <a:pt x="33" y="147"/>
                  <a:pt x="0" y="114"/>
                  <a:pt x="0" y="74"/>
                </a:cubicBezTo>
                <a:cubicBezTo>
                  <a:pt x="0" y="33"/>
                  <a:pt x="33" y="0"/>
                  <a:pt x="74" y="0"/>
                </a:cubicBezTo>
                <a:cubicBezTo>
                  <a:pt x="114" y="0"/>
                  <a:pt x="147" y="33"/>
                  <a:pt x="147" y="74"/>
                </a:cubicBezTo>
                <a:cubicBezTo>
                  <a:pt x="147" y="114"/>
                  <a:pt x="114" y="147"/>
                  <a:pt x="74" y="147"/>
                </a:cubicBezTo>
                <a:close/>
                <a:moveTo>
                  <a:pt x="74" y="16"/>
                </a:moveTo>
                <a:cubicBezTo>
                  <a:pt x="42" y="16"/>
                  <a:pt x="16" y="42"/>
                  <a:pt x="16" y="74"/>
                </a:cubicBezTo>
                <a:cubicBezTo>
                  <a:pt x="16" y="105"/>
                  <a:pt x="42" y="131"/>
                  <a:pt x="74" y="131"/>
                </a:cubicBezTo>
                <a:cubicBezTo>
                  <a:pt x="106" y="131"/>
                  <a:pt x="131" y="105"/>
                  <a:pt x="131" y="74"/>
                </a:cubicBezTo>
                <a:cubicBezTo>
                  <a:pt x="131" y="42"/>
                  <a:pt x="106" y="16"/>
                  <a:pt x="74" y="16"/>
                </a:cubicBezTo>
                <a:close/>
              </a:path>
            </a:pathLst>
          </a:custGeom>
          <a:solidFill>
            <a:srgbClr val="E6642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E66428"/>
              </a:solidFill>
            </a:endParaRPr>
          </a:p>
        </p:txBody>
      </p:sp>
      <p:sp>
        <p:nvSpPr>
          <p:cNvPr id="138" name="Freeform 10">
            <a:extLst>
              <a:ext uri="{FF2B5EF4-FFF2-40B4-BE49-F238E27FC236}">
                <a16:creationId xmlns:a16="http://schemas.microsoft.com/office/drawing/2014/main" id="{F928550A-69F4-09B7-7C88-82F869036894}"/>
              </a:ext>
            </a:extLst>
          </p:cNvPr>
          <p:cNvSpPr>
            <a:spLocks noEditPoints="1"/>
          </p:cNvSpPr>
          <p:nvPr/>
        </p:nvSpPr>
        <p:spPr bwMode="auto">
          <a:xfrm>
            <a:off x="8613692" y="4797304"/>
            <a:ext cx="295275" cy="293688"/>
          </a:xfrm>
          <a:custGeom>
            <a:avLst/>
            <a:gdLst>
              <a:gd name="T0" fmla="*/ 74 w 147"/>
              <a:gd name="T1" fmla="*/ 146 h 146"/>
              <a:gd name="T2" fmla="*/ 0 w 147"/>
              <a:gd name="T3" fmla="*/ 73 h 146"/>
              <a:gd name="T4" fmla="*/ 74 w 147"/>
              <a:gd name="T5" fmla="*/ 0 h 146"/>
              <a:gd name="T6" fmla="*/ 147 w 147"/>
              <a:gd name="T7" fmla="*/ 73 h 146"/>
              <a:gd name="T8" fmla="*/ 74 w 147"/>
              <a:gd name="T9" fmla="*/ 146 h 146"/>
              <a:gd name="T10" fmla="*/ 74 w 147"/>
              <a:gd name="T11" fmla="*/ 16 h 146"/>
              <a:gd name="T12" fmla="*/ 16 w 147"/>
              <a:gd name="T13" fmla="*/ 73 h 146"/>
              <a:gd name="T14" fmla="*/ 74 w 147"/>
              <a:gd name="T15" fmla="*/ 130 h 146"/>
              <a:gd name="T16" fmla="*/ 131 w 147"/>
              <a:gd name="T17" fmla="*/ 73 h 146"/>
              <a:gd name="T18" fmla="*/ 74 w 147"/>
              <a:gd name="T19" fmla="*/ 16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7" h="146">
                <a:moveTo>
                  <a:pt x="74" y="146"/>
                </a:moveTo>
                <a:cubicBezTo>
                  <a:pt x="33" y="146"/>
                  <a:pt x="0" y="114"/>
                  <a:pt x="0" y="73"/>
                </a:cubicBezTo>
                <a:cubicBezTo>
                  <a:pt x="0" y="33"/>
                  <a:pt x="33" y="0"/>
                  <a:pt x="74" y="0"/>
                </a:cubicBezTo>
                <a:cubicBezTo>
                  <a:pt x="114" y="0"/>
                  <a:pt x="147" y="33"/>
                  <a:pt x="147" y="73"/>
                </a:cubicBezTo>
                <a:cubicBezTo>
                  <a:pt x="147" y="114"/>
                  <a:pt x="114" y="146"/>
                  <a:pt x="74" y="146"/>
                </a:cubicBezTo>
                <a:close/>
                <a:moveTo>
                  <a:pt x="74" y="16"/>
                </a:moveTo>
                <a:cubicBezTo>
                  <a:pt x="42" y="16"/>
                  <a:pt x="16" y="41"/>
                  <a:pt x="16" y="73"/>
                </a:cubicBezTo>
                <a:cubicBezTo>
                  <a:pt x="16" y="105"/>
                  <a:pt x="42" y="130"/>
                  <a:pt x="74" y="130"/>
                </a:cubicBezTo>
                <a:cubicBezTo>
                  <a:pt x="106" y="130"/>
                  <a:pt x="131" y="105"/>
                  <a:pt x="131" y="73"/>
                </a:cubicBezTo>
                <a:cubicBezTo>
                  <a:pt x="131" y="41"/>
                  <a:pt x="106" y="16"/>
                  <a:pt x="74" y="16"/>
                </a:cubicBezTo>
                <a:close/>
              </a:path>
            </a:pathLst>
          </a:custGeom>
          <a:solidFill>
            <a:srgbClr val="973F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973F5C"/>
              </a:solidFill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06095C22-C258-4856-A748-A382ED79B1F7}"/>
              </a:ext>
            </a:extLst>
          </p:cNvPr>
          <p:cNvSpPr txBox="1"/>
          <p:nvPr/>
        </p:nvSpPr>
        <p:spPr>
          <a:xfrm>
            <a:off x="8874326" y="2311186"/>
            <a:ext cx="2856518" cy="801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bilibili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杨少文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新商业模式</a:t>
            </a:r>
          </a:p>
        </p:txBody>
      </p:sp>
      <p:sp>
        <p:nvSpPr>
          <p:cNvPr id="140" name="Freeform 9">
            <a:extLst>
              <a:ext uri="{FF2B5EF4-FFF2-40B4-BE49-F238E27FC236}">
                <a16:creationId xmlns:a16="http://schemas.microsoft.com/office/drawing/2014/main" id="{F4AA91FC-E7E9-2FD2-0F82-402FD07C491E}"/>
              </a:ext>
            </a:extLst>
          </p:cNvPr>
          <p:cNvSpPr>
            <a:spLocks noEditPoints="1"/>
          </p:cNvSpPr>
          <p:nvPr/>
        </p:nvSpPr>
        <p:spPr bwMode="auto">
          <a:xfrm>
            <a:off x="8613692" y="2431409"/>
            <a:ext cx="295275" cy="295275"/>
          </a:xfrm>
          <a:custGeom>
            <a:avLst/>
            <a:gdLst>
              <a:gd name="T0" fmla="*/ 74 w 147"/>
              <a:gd name="T1" fmla="*/ 147 h 147"/>
              <a:gd name="T2" fmla="*/ 0 w 147"/>
              <a:gd name="T3" fmla="*/ 74 h 147"/>
              <a:gd name="T4" fmla="*/ 74 w 147"/>
              <a:gd name="T5" fmla="*/ 0 h 147"/>
              <a:gd name="T6" fmla="*/ 147 w 147"/>
              <a:gd name="T7" fmla="*/ 74 h 147"/>
              <a:gd name="T8" fmla="*/ 74 w 147"/>
              <a:gd name="T9" fmla="*/ 147 h 147"/>
              <a:gd name="T10" fmla="*/ 74 w 147"/>
              <a:gd name="T11" fmla="*/ 16 h 147"/>
              <a:gd name="T12" fmla="*/ 16 w 147"/>
              <a:gd name="T13" fmla="*/ 74 h 147"/>
              <a:gd name="T14" fmla="*/ 74 w 147"/>
              <a:gd name="T15" fmla="*/ 131 h 147"/>
              <a:gd name="T16" fmla="*/ 131 w 147"/>
              <a:gd name="T17" fmla="*/ 74 h 147"/>
              <a:gd name="T18" fmla="*/ 74 w 147"/>
              <a:gd name="T19" fmla="*/ 16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7" h="147">
                <a:moveTo>
                  <a:pt x="74" y="147"/>
                </a:moveTo>
                <a:cubicBezTo>
                  <a:pt x="33" y="147"/>
                  <a:pt x="0" y="114"/>
                  <a:pt x="0" y="74"/>
                </a:cubicBezTo>
                <a:cubicBezTo>
                  <a:pt x="0" y="33"/>
                  <a:pt x="33" y="0"/>
                  <a:pt x="74" y="0"/>
                </a:cubicBezTo>
                <a:cubicBezTo>
                  <a:pt x="114" y="0"/>
                  <a:pt x="147" y="33"/>
                  <a:pt x="147" y="74"/>
                </a:cubicBezTo>
                <a:cubicBezTo>
                  <a:pt x="147" y="114"/>
                  <a:pt x="114" y="147"/>
                  <a:pt x="74" y="147"/>
                </a:cubicBezTo>
                <a:close/>
                <a:moveTo>
                  <a:pt x="74" y="16"/>
                </a:moveTo>
                <a:cubicBezTo>
                  <a:pt x="42" y="16"/>
                  <a:pt x="16" y="42"/>
                  <a:pt x="16" y="74"/>
                </a:cubicBezTo>
                <a:cubicBezTo>
                  <a:pt x="16" y="105"/>
                  <a:pt x="42" y="131"/>
                  <a:pt x="74" y="131"/>
                </a:cubicBezTo>
                <a:cubicBezTo>
                  <a:pt x="106" y="131"/>
                  <a:pt x="131" y="105"/>
                  <a:pt x="131" y="74"/>
                </a:cubicBezTo>
                <a:cubicBezTo>
                  <a:pt x="131" y="42"/>
                  <a:pt x="106" y="16"/>
                  <a:pt x="74" y="16"/>
                </a:cubicBezTo>
                <a:close/>
              </a:path>
            </a:pathLst>
          </a:custGeom>
          <a:solidFill>
            <a:srgbClr val="ED912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C99A65"/>
              </a:solidFill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ACDE7C85-2C4A-C265-B6C9-6827BB650F9A}"/>
              </a:ext>
            </a:extLst>
          </p:cNvPr>
          <p:cNvSpPr txBox="1"/>
          <p:nvPr/>
        </p:nvSpPr>
        <p:spPr>
          <a:xfrm>
            <a:off x="4198951" y="5600578"/>
            <a:ext cx="3913366" cy="72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上海活力组织研究院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新媒体矩阵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9" name="图形 158">
            <a:extLst>
              <a:ext uri="{FF2B5EF4-FFF2-40B4-BE49-F238E27FC236}">
                <a16:creationId xmlns:a16="http://schemas.microsoft.com/office/drawing/2014/main" id="{97F22701-6EC6-4C10-0506-FC4909C9E8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47352" y="2258011"/>
            <a:ext cx="720000" cy="720000"/>
          </a:xfrm>
          <a:prstGeom prst="rect">
            <a:avLst/>
          </a:prstGeom>
        </p:spPr>
      </p:pic>
      <p:pic>
        <p:nvPicPr>
          <p:cNvPr id="161" name="图形 160">
            <a:extLst>
              <a:ext uri="{FF2B5EF4-FFF2-40B4-BE49-F238E27FC236}">
                <a16:creationId xmlns:a16="http://schemas.microsoft.com/office/drawing/2014/main" id="{0FB8A950-E75F-89D7-BDE6-CC1266E7CF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06483" y="2209229"/>
            <a:ext cx="720000" cy="720000"/>
          </a:xfrm>
          <a:prstGeom prst="rect">
            <a:avLst/>
          </a:prstGeom>
        </p:spPr>
      </p:pic>
      <p:pic>
        <p:nvPicPr>
          <p:cNvPr id="163" name="图形 162">
            <a:extLst>
              <a:ext uri="{FF2B5EF4-FFF2-40B4-BE49-F238E27FC236}">
                <a16:creationId xmlns:a16="http://schemas.microsoft.com/office/drawing/2014/main" id="{DFA7242C-4364-DE36-3BE8-8F26219191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3238" y="3194115"/>
            <a:ext cx="720000" cy="720000"/>
          </a:xfrm>
          <a:prstGeom prst="rect">
            <a:avLst/>
          </a:prstGeom>
        </p:spPr>
      </p:pic>
      <p:pic>
        <p:nvPicPr>
          <p:cNvPr id="165" name="图形 164">
            <a:extLst>
              <a:ext uri="{FF2B5EF4-FFF2-40B4-BE49-F238E27FC236}">
                <a16:creationId xmlns:a16="http://schemas.microsoft.com/office/drawing/2014/main" id="{95AE1EBC-A491-D7D2-D03C-55EBE60831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43603" y="4586506"/>
            <a:ext cx="720000" cy="720000"/>
          </a:xfrm>
          <a:prstGeom prst="rect">
            <a:avLst/>
          </a:prstGeom>
        </p:spPr>
      </p:pic>
      <p:pic>
        <p:nvPicPr>
          <p:cNvPr id="171" name="图形 170">
            <a:extLst>
              <a:ext uri="{FF2B5EF4-FFF2-40B4-BE49-F238E27FC236}">
                <a16:creationId xmlns:a16="http://schemas.microsoft.com/office/drawing/2014/main" id="{E3797CDF-6661-29F3-D038-623EC238EF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0291" y="4573658"/>
            <a:ext cx="720000" cy="720000"/>
          </a:xfrm>
          <a:prstGeom prst="rect">
            <a:avLst/>
          </a:prstGeom>
        </p:spPr>
      </p:pic>
      <p:sp>
        <p:nvSpPr>
          <p:cNvPr id="172" name="矩形 171">
            <a:extLst>
              <a:ext uri="{FF2B5EF4-FFF2-40B4-BE49-F238E27FC236}">
                <a16:creationId xmlns:a16="http://schemas.microsoft.com/office/drawing/2014/main" id="{AE5EE0F8-EA60-3E02-A821-990678922365}"/>
              </a:ext>
            </a:extLst>
          </p:cNvPr>
          <p:cNvSpPr/>
          <p:nvPr/>
        </p:nvSpPr>
        <p:spPr>
          <a:xfrm>
            <a:off x="2884622" y="685798"/>
            <a:ext cx="6422756" cy="6559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共建生生不息的组织生命力</a:t>
            </a:r>
          </a:p>
        </p:txBody>
      </p:sp>
      <p:pic>
        <p:nvPicPr>
          <p:cNvPr id="23" name="图形 22">
            <a:extLst>
              <a:ext uri="{FF2B5EF4-FFF2-40B4-BE49-F238E27FC236}">
                <a16:creationId xmlns:a16="http://schemas.microsoft.com/office/drawing/2014/main" id="{58389821-9832-9EF1-52A4-412257EB38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4213" y="3304404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59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669</Words>
  <Application>Microsoft Office PowerPoint</Application>
  <PresentationFormat>宽屏</PresentationFormat>
  <Paragraphs>94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邢 璐瑶</dc:creator>
  <cp:lastModifiedBy>邢 璐瑶</cp:lastModifiedBy>
  <cp:revision>2</cp:revision>
  <dcterms:created xsi:type="dcterms:W3CDTF">2026-07-08T02:11:46Z</dcterms:created>
  <dcterms:modified xsi:type="dcterms:W3CDTF">2026-07-09T08:03:47Z</dcterms:modified>
</cp:coreProperties>
</file>